
<file path=[Content_Types].xml><?xml version="1.0" encoding="utf-8"?>
<Types xmlns="http://schemas.openxmlformats.org/package/2006/content-types">
  <Default Extension="jpeg" ContentType="image/jpeg"/>
  <Default Extension="jp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4110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3" r:id="rId8"/>
    <p:sldId id="264" r:id="rId9"/>
    <p:sldId id="265" r:id="rId10"/>
    <p:sldId id="262" r:id="rId11"/>
  </p:sldIdLst>
  <p:sldSz cx="12192000" cy="6858000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21463"/>
    <p:restoredTop sz="94715"/>
  </p:normalViewPr>
  <p:slideViewPr>
    <p:cSldViewPr snapToGrid="0">
      <p:cViewPr>
        <p:scale>
          <a:sx n="123" d="100"/>
          <a:sy n="123" d="100"/>
        </p:scale>
        <p:origin x="-208" y="15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viewProps" Target="viewProps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presProps" Target="presProps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tableStyles" Target="tableStyles.xml"/><Relationship Id="rId10" Type="http://schemas.openxmlformats.org/officeDocument/2006/relationships/slide" Target="slides/slide9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theme" Target="theme/theme1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Diapositive de titr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fr-FR"/>
              <a:t>Modifiez le style du titre</a:t>
            </a:r>
            <a:endParaRPr lang="en-US" dirty="0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fr-FR"/>
              <a:t>Modifiez le style des sous-titres du masque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1A217C5-FA7C-7A44-9255-0FF98C27B035}" type="datetimeFigureOut">
              <a:rPr lang="en-US" smtClean="0"/>
              <a:t>1/30/26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ED7DBFB-452C-DD47-9FC4-16C2ADE21B3B}" type="slidenum">
              <a:rPr lang="en-US" smtClean="0"/>
              <a:t>‹N°›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32334427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re et contenu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fr-FR"/>
              <a:t>Modifiez le style du titre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fr-FR"/>
              <a:t>Cliquez pour modifier les styles du texte du masque</a:t>
            </a:r>
          </a:p>
          <a:p>
            <a:pPr lvl="1"/>
            <a:r>
              <a:rPr lang="fr-FR"/>
              <a:t>Deuxième niveau</a:t>
            </a:r>
          </a:p>
          <a:p>
            <a:pPr lvl="2"/>
            <a:r>
              <a:rPr lang="fr-FR"/>
              <a:t>Troisième niveau</a:t>
            </a:r>
          </a:p>
          <a:p>
            <a:pPr lvl="3"/>
            <a:r>
              <a:rPr lang="fr-FR"/>
              <a:t>Quatrième niveau</a:t>
            </a:r>
          </a:p>
          <a:p>
            <a:pPr lvl="4"/>
            <a:r>
              <a:rPr lang="fr-FR"/>
              <a:t>Cinquième niveau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1A217C5-FA7C-7A44-9255-0FF98C27B035}" type="datetimeFigureOut">
              <a:rPr lang="en-US" smtClean="0"/>
              <a:t>1/30/26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ED7DBFB-452C-DD47-9FC4-16C2ADE21B3B}" type="slidenum">
              <a:rPr lang="en-US" smtClean="0"/>
              <a:t>‹N°›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255223316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Titre de sec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fr-FR"/>
              <a:t>Modifiez le style du titre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fr-FR"/>
              <a:t>Cliquez pour modifier les styles du texte du masque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1A217C5-FA7C-7A44-9255-0FF98C27B035}" type="datetimeFigureOut">
              <a:rPr lang="en-US" smtClean="0"/>
              <a:t>1/30/26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ED7DBFB-452C-DD47-9FC4-16C2ADE21B3B}" type="slidenum">
              <a:rPr lang="en-US" smtClean="0"/>
              <a:t>‹N°›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02590403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Deux contenu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fr-FR"/>
              <a:t>Modifiez le style du titre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fr-FR"/>
              <a:t>Cliquez pour modifier les styles du texte du masque</a:t>
            </a:r>
          </a:p>
          <a:p>
            <a:pPr lvl="1"/>
            <a:r>
              <a:rPr lang="fr-FR"/>
              <a:t>Deuxième niveau</a:t>
            </a:r>
          </a:p>
          <a:p>
            <a:pPr lvl="2"/>
            <a:r>
              <a:rPr lang="fr-FR"/>
              <a:t>Troisième niveau</a:t>
            </a:r>
          </a:p>
          <a:p>
            <a:pPr lvl="3"/>
            <a:r>
              <a:rPr lang="fr-FR"/>
              <a:t>Quatrième niveau</a:t>
            </a:r>
          </a:p>
          <a:p>
            <a:pPr lvl="4"/>
            <a:r>
              <a:rPr lang="fr-FR"/>
              <a:t>Cinquième niveau</a:t>
            </a:r>
            <a:endParaRPr lang="en-US" dirty="0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fr-FR"/>
              <a:t>Cliquez pour modifier les styles du texte du masque</a:t>
            </a:r>
          </a:p>
          <a:p>
            <a:pPr lvl="1"/>
            <a:r>
              <a:rPr lang="fr-FR"/>
              <a:t>Deuxième niveau</a:t>
            </a:r>
          </a:p>
          <a:p>
            <a:pPr lvl="2"/>
            <a:r>
              <a:rPr lang="fr-FR"/>
              <a:t>Troisième niveau</a:t>
            </a:r>
          </a:p>
          <a:p>
            <a:pPr lvl="3"/>
            <a:r>
              <a:rPr lang="fr-FR"/>
              <a:t>Quatrième niveau</a:t>
            </a:r>
          </a:p>
          <a:p>
            <a:pPr lvl="4"/>
            <a:r>
              <a:rPr lang="fr-FR"/>
              <a:t>Cinquième niveau</a:t>
            </a:r>
            <a:endParaRPr lang="en-US" dirty="0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1A217C5-FA7C-7A44-9255-0FF98C27B035}" type="datetimeFigureOut">
              <a:rPr lang="en-US" smtClean="0"/>
              <a:t>1/30/26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ED7DBFB-452C-DD47-9FC4-16C2ADE21B3B}" type="slidenum">
              <a:rPr lang="en-US" smtClean="0"/>
              <a:t>‹N°›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263479928"/>
      </p:ext>
    </p:extLst>
  </p:cSld>
  <p:clrMapOvr>
    <a:masterClrMapping/>
  </p:clrMapOvr>
  <p:extLst>
    <p:ext uri="{DCECCB84-F9BA-43D5-87BE-67443E8EF086}">
      <p15:sldGuideLst xmlns:p15="http://schemas.microsoft.com/office/powerpoint/2012/main"/>
    </p:ext>
  </p:extLst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a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fr-FR"/>
              <a:t>Modifiez le style du titre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fr-FR"/>
              <a:t>Cliquez pour modifier les styles du texte du masque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fr-FR"/>
              <a:t>Cliquez pour modifier les styles du texte du masque</a:t>
            </a:r>
          </a:p>
          <a:p>
            <a:pPr lvl="1"/>
            <a:r>
              <a:rPr lang="fr-FR"/>
              <a:t>Deuxième niveau</a:t>
            </a:r>
          </a:p>
          <a:p>
            <a:pPr lvl="2"/>
            <a:r>
              <a:rPr lang="fr-FR"/>
              <a:t>Troisième niveau</a:t>
            </a:r>
          </a:p>
          <a:p>
            <a:pPr lvl="3"/>
            <a:r>
              <a:rPr lang="fr-FR"/>
              <a:t>Quatrième niveau</a:t>
            </a:r>
          </a:p>
          <a:p>
            <a:pPr lvl="4"/>
            <a:r>
              <a:rPr lang="fr-FR"/>
              <a:t>Cinquième niveau</a:t>
            </a:r>
            <a:endParaRPr lang="en-US" dirty="0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fr-FR"/>
              <a:t>Cliquez pour modifier les styles du texte du masque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fr-FR"/>
              <a:t>Cliquez pour modifier les styles du texte du masque</a:t>
            </a:r>
          </a:p>
          <a:p>
            <a:pPr lvl="1"/>
            <a:r>
              <a:rPr lang="fr-FR"/>
              <a:t>Deuxième niveau</a:t>
            </a:r>
          </a:p>
          <a:p>
            <a:pPr lvl="2"/>
            <a:r>
              <a:rPr lang="fr-FR"/>
              <a:t>Troisième niveau</a:t>
            </a:r>
          </a:p>
          <a:p>
            <a:pPr lvl="3"/>
            <a:r>
              <a:rPr lang="fr-FR"/>
              <a:t>Quatrième niveau</a:t>
            </a:r>
          </a:p>
          <a:p>
            <a:pPr lvl="4"/>
            <a:r>
              <a:rPr lang="fr-FR"/>
              <a:t>Cinquième niveau</a:t>
            </a:r>
            <a:endParaRPr lang="en-US" dirty="0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1A217C5-FA7C-7A44-9255-0FF98C27B035}" type="datetimeFigureOut">
              <a:rPr lang="en-US" smtClean="0"/>
              <a:t>1/30/26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ED7DBFB-452C-DD47-9FC4-16C2ADE21B3B}" type="slidenum">
              <a:rPr lang="en-US" smtClean="0"/>
              <a:t>‹N°›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94178288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re seul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fr-FR"/>
              <a:t>Modifiez le style du titre</a:t>
            </a:r>
            <a:endParaRPr lang="en-US" dirty="0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1A217C5-FA7C-7A44-9255-0FF98C27B035}" type="datetimeFigureOut">
              <a:rPr lang="en-US" smtClean="0"/>
              <a:t>1/30/26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ED7DBFB-452C-DD47-9FC4-16C2ADE21B3B}" type="slidenum">
              <a:rPr lang="en-US" smtClean="0"/>
              <a:t>‹N°›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95565815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V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1A217C5-FA7C-7A44-9255-0FF98C27B035}" type="datetimeFigureOut">
              <a:rPr lang="en-US" smtClean="0"/>
              <a:t>1/30/26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ED7DBFB-452C-DD47-9FC4-16C2ADE21B3B}" type="slidenum">
              <a:rPr lang="en-US" smtClean="0"/>
              <a:t>‹N°›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68800711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u avec légen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fr-FR"/>
              <a:t>Modifiez le style du titre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fr-FR"/>
              <a:t>Cliquez pour modifier les styles du texte du masque</a:t>
            </a:r>
          </a:p>
          <a:p>
            <a:pPr lvl="1"/>
            <a:r>
              <a:rPr lang="fr-FR"/>
              <a:t>Deuxième niveau</a:t>
            </a:r>
          </a:p>
          <a:p>
            <a:pPr lvl="2"/>
            <a:r>
              <a:rPr lang="fr-FR"/>
              <a:t>Troisième niveau</a:t>
            </a:r>
          </a:p>
          <a:p>
            <a:pPr lvl="3"/>
            <a:r>
              <a:rPr lang="fr-FR"/>
              <a:t>Quatrième niveau</a:t>
            </a:r>
          </a:p>
          <a:p>
            <a:pPr lvl="4"/>
            <a:r>
              <a:rPr lang="fr-FR"/>
              <a:t>Cinquième niveau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fr-FR"/>
              <a:t>Cliquez pour modifier les styles du texte du masque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1A217C5-FA7C-7A44-9255-0FF98C27B035}" type="datetimeFigureOut">
              <a:rPr lang="en-US" smtClean="0"/>
              <a:t>1/30/26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ED7DBFB-452C-DD47-9FC4-16C2ADE21B3B}" type="slidenum">
              <a:rPr lang="en-US" smtClean="0"/>
              <a:t>‹N°›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93452422"/>
      </p:ext>
    </p:extLst>
  </p:cSld>
  <p:clrMapOvr>
    <a:masterClrMapping/>
  </p:clrMapOvr>
  <p:extLst>
    <p:ext uri="{DCECCB84-F9BA-43D5-87BE-67443E8EF086}">
      <p15:sldGuideLst xmlns:p15="http://schemas.microsoft.com/office/powerpoint/2012/main"/>
    </p:ext>
  </p:extLst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Image avec légen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fr-FR"/>
              <a:t>Modifiez le style du titre</a:t>
            </a:r>
            <a:endParaRPr lang="en-US" dirty="0"/>
          </a:p>
        </p:txBody>
      </p:sp>
      <p:sp>
        <p:nvSpPr>
          <p:cNvPr id="3" name="Picture Placeholder 2"/>
          <p:cNvSpPr>
            <a:spLocks noGrp="1" noChangeAspect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 anchor="t"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r>
              <a:rPr lang="fr-FR"/>
              <a:t>Cliquez sur l'icône pour ajouter une image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fr-FR"/>
              <a:t>Cliquez pour modifier les styles du texte du masque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1A217C5-FA7C-7A44-9255-0FF98C27B035}" type="datetimeFigureOut">
              <a:rPr lang="en-US" smtClean="0"/>
              <a:t>1/30/26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ED7DBFB-452C-DD47-9FC4-16C2ADE21B3B}" type="slidenum">
              <a:rPr lang="en-US" smtClean="0"/>
              <a:t>‹N°›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47576021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re et texte vertical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fr-FR"/>
              <a:t>Modifiez le style du titre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fr-FR"/>
              <a:t>Cliquez pour modifier les styles du texte du masque</a:t>
            </a:r>
          </a:p>
          <a:p>
            <a:pPr lvl="1"/>
            <a:r>
              <a:rPr lang="fr-FR"/>
              <a:t>Deuxième niveau</a:t>
            </a:r>
          </a:p>
          <a:p>
            <a:pPr lvl="2"/>
            <a:r>
              <a:rPr lang="fr-FR"/>
              <a:t>Troisième niveau</a:t>
            </a:r>
          </a:p>
          <a:p>
            <a:pPr lvl="3"/>
            <a:r>
              <a:rPr lang="fr-FR"/>
              <a:t>Quatrième niveau</a:t>
            </a:r>
          </a:p>
          <a:p>
            <a:pPr lvl="4"/>
            <a:r>
              <a:rPr lang="fr-FR"/>
              <a:t>Cinquième niveau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1A217C5-FA7C-7A44-9255-0FF98C27B035}" type="datetimeFigureOut">
              <a:rPr lang="en-US" smtClean="0"/>
              <a:t>1/30/26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ED7DBFB-452C-DD47-9FC4-16C2ADE21B3B}" type="slidenum">
              <a:rPr lang="en-US" smtClean="0"/>
              <a:t>‹N°›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0285148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Titre vertical et text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fr-FR"/>
              <a:t>Modifiez le style du titre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fr-FR"/>
              <a:t>Cliquez pour modifier les styles du texte du masque</a:t>
            </a:r>
          </a:p>
          <a:p>
            <a:pPr lvl="1"/>
            <a:r>
              <a:rPr lang="fr-FR"/>
              <a:t>Deuxième niveau</a:t>
            </a:r>
          </a:p>
          <a:p>
            <a:pPr lvl="2"/>
            <a:r>
              <a:rPr lang="fr-FR"/>
              <a:t>Troisième niveau</a:t>
            </a:r>
          </a:p>
          <a:p>
            <a:pPr lvl="3"/>
            <a:r>
              <a:rPr lang="fr-FR"/>
              <a:t>Quatrième niveau</a:t>
            </a:r>
          </a:p>
          <a:p>
            <a:pPr lvl="4"/>
            <a:r>
              <a:rPr lang="fr-FR"/>
              <a:t>Cinquième niveau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1A217C5-FA7C-7A44-9255-0FF98C27B035}" type="datetimeFigureOut">
              <a:rPr lang="en-US" smtClean="0"/>
              <a:t>1/30/26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ED7DBFB-452C-DD47-9FC4-16C2ADE21B3B}" type="slidenum">
              <a:rPr lang="en-US" smtClean="0"/>
              <a:t>‹N°›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616986638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fr-FR"/>
              <a:t>Modifiez le style du titre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fr-FR"/>
              <a:t>Cliquez pour modifier les styles du texte du masque</a:t>
            </a:r>
          </a:p>
          <a:p>
            <a:pPr lvl="1"/>
            <a:r>
              <a:rPr lang="fr-FR"/>
              <a:t>Deuxième niveau</a:t>
            </a:r>
          </a:p>
          <a:p>
            <a:pPr lvl="2"/>
            <a:r>
              <a:rPr lang="fr-FR"/>
              <a:t>Troisième niveau</a:t>
            </a:r>
          </a:p>
          <a:p>
            <a:pPr lvl="3"/>
            <a:r>
              <a:rPr lang="fr-FR"/>
              <a:t>Quatrième niveau</a:t>
            </a:r>
          </a:p>
          <a:p>
            <a:pPr lvl="4"/>
            <a:r>
              <a:rPr lang="fr-FR"/>
              <a:t>Cinquième niveau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B1A217C5-FA7C-7A44-9255-0FF98C27B035}" type="datetimeFigureOut">
              <a:rPr lang="en-US" smtClean="0"/>
              <a:t>1/30/26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AED7DBFB-452C-DD47-9FC4-16C2ADE21B3B}" type="slidenum">
              <a:rPr lang="en-US" smtClean="0"/>
              <a:t>‹N°›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45356456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4111" r:id="rId1"/>
    <p:sldLayoutId id="2147484112" r:id="rId2"/>
    <p:sldLayoutId id="2147484113" r:id="rId3"/>
    <p:sldLayoutId id="2147484114" r:id="rId4"/>
    <p:sldLayoutId id="2147484115" r:id="rId5"/>
    <p:sldLayoutId id="2147484116" r:id="rId6"/>
    <p:sldLayoutId id="2147484117" r:id="rId7"/>
    <p:sldLayoutId id="2147484118" r:id="rId8"/>
    <p:sldLayoutId id="2147484119" r:id="rId9"/>
    <p:sldLayoutId id="2147484120" r:id="rId10"/>
    <p:sldLayoutId id="2147484121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  <p:extLst>
    <p:ext uri="{27BBF7A9-308A-43DC-89C8-2F10F3537804}">
      <p15:sldGuideLst xmlns:p15="http://schemas.microsoft.com/office/powerpoint/2012/main"/>
    </p:ext>
  </p:extLst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jpg"/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jpg"/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png"/><Relationship Id="rId2" Type="http://schemas.openxmlformats.org/officeDocument/2006/relationships/image" Target="../media/image3.jpg"/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png"/><Relationship Id="rId2" Type="http://schemas.openxmlformats.org/officeDocument/2006/relationships/image" Target="../media/image4.jpg"/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8.png"/><Relationship Id="rId2" Type="http://schemas.openxmlformats.org/officeDocument/2006/relationships/image" Target="../media/image7.png"/><Relationship Id="rId1" Type="http://schemas.openxmlformats.org/officeDocument/2006/relationships/slideLayout" Target="../slideLayouts/slideLayout2.xml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image" Target="../media/image9.png"/><Relationship Id="rId1" Type="http://schemas.openxmlformats.org/officeDocument/2006/relationships/slideLayout" Target="../slideLayouts/slideLayout2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86A63B7A-2100-D9B2-28FD-1FFF3FD39147}"/>
              </a:ext>
            </a:extLst>
          </p:cNvPr>
          <p:cNvSpPr>
            <a:spLocks noGrp="1"/>
          </p:cNvSpPr>
          <p:nvPr>
            <p:ph type="ctrTitle"/>
          </p:nvPr>
        </p:nvSpPr>
        <p:spPr/>
        <p:txBody>
          <a:bodyPr>
            <a:normAutofit/>
          </a:bodyPr>
          <a:lstStyle/>
          <a:p>
            <a:r>
              <a:rPr lang="en-US" dirty="0"/>
              <a:t>Distillation de </a:t>
            </a:r>
            <a:r>
              <a:rPr lang="fr-FR" dirty="0"/>
              <a:t>connaissances</a:t>
            </a:r>
            <a:r>
              <a:rPr lang="en-US" dirty="0"/>
              <a:t> </a:t>
            </a:r>
            <a:r>
              <a:rPr lang="fr-FR" dirty="0"/>
              <a:t>dans</a:t>
            </a:r>
            <a:r>
              <a:rPr lang="en-US" dirty="0"/>
              <a:t> un </a:t>
            </a:r>
            <a:r>
              <a:rPr lang="fr-FR" dirty="0"/>
              <a:t>réseau</a:t>
            </a:r>
            <a:r>
              <a:rPr lang="en-US" dirty="0"/>
              <a:t> de </a:t>
            </a:r>
            <a:r>
              <a:rPr lang="en-US" dirty="0" err="1"/>
              <a:t>neurones</a:t>
            </a:r>
            <a:endParaRPr lang="en-US" dirty="0"/>
          </a:p>
        </p:txBody>
      </p:sp>
      <p:sp>
        <p:nvSpPr>
          <p:cNvPr id="3" name="Sous-titre 2">
            <a:extLst>
              <a:ext uri="{FF2B5EF4-FFF2-40B4-BE49-F238E27FC236}">
                <a16:creationId xmlns:a16="http://schemas.microsoft.com/office/drawing/2014/main" id="{AF9F4C2F-D1EE-83DB-DEB0-A78B20D994AF}"/>
              </a:ext>
            </a:extLst>
          </p:cNvPr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r>
              <a:rPr lang="en-US" dirty="0"/>
              <a:t>Une </a:t>
            </a:r>
            <a:r>
              <a:rPr lang="fr-FR" dirty="0"/>
              <a:t>méthode</a:t>
            </a:r>
            <a:r>
              <a:rPr lang="en-US" dirty="0"/>
              <a:t> de </a:t>
            </a:r>
            <a:r>
              <a:rPr lang="fr-FR" dirty="0"/>
              <a:t>compression</a:t>
            </a:r>
            <a:r>
              <a:rPr lang="en-US" dirty="0"/>
              <a:t> de la </a:t>
            </a:r>
            <a:r>
              <a:rPr lang="fr-FR" dirty="0"/>
              <a:t>connaissance</a:t>
            </a:r>
          </a:p>
        </p:txBody>
      </p:sp>
    </p:spTree>
    <p:extLst>
      <p:ext uri="{BB962C8B-B14F-4D97-AF65-F5344CB8AC3E}">
        <p14:creationId xmlns:p14="http://schemas.microsoft.com/office/powerpoint/2010/main" val="3852700911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F5EB7E61-41CE-C55F-D54D-7EF10FCA267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fr-FR" dirty="0"/>
              <a:t>Table des matières</a:t>
            </a:r>
          </a:p>
        </p:txBody>
      </p:sp>
      <p:sp>
        <p:nvSpPr>
          <p:cNvPr id="3" name="Espace réservé du contenu 2">
            <a:extLst>
              <a:ext uri="{FF2B5EF4-FFF2-40B4-BE49-F238E27FC236}">
                <a16:creationId xmlns:a16="http://schemas.microsoft.com/office/drawing/2014/main" id="{CED67304-3D40-3261-C851-AAB00FA66CF0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fr-FR" dirty="0"/>
              <a:t>Le principe</a:t>
            </a:r>
          </a:p>
          <a:p>
            <a:r>
              <a:rPr lang="fr-FR" dirty="0"/>
              <a:t>Les formules qui en découlent</a:t>
            </a:r>
          </a:p>
          <a:p>
            <a:r>
              <a:rPr lang="fr-FR" dirty="0"/>
              <a:t>Un exemple</a:t>
            </a:r>
          </a:p>
          <a:p>
            <a:r>
              <a:rPr lang="fr-FR" dirty="0"/>
              <a:t>Pour aller plus loin</a:t>
            </a:r>
          </a:p>
        </p:txBody>
      </p:sp>
    </p:spTree>
    <p:extLst>
      <p:ext uri="{BB962C8B-B14F-4D97-AF65-F5344CB8AC3E}">
        <p14:creationId xmlns:p14="http://schemas.microsoft.com/office/powerpoint/2010/main" val="3555723214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AB0107BB-3059-F9FC-7C39-A58BBAD0C96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fr-FR" dirty="0"/>
              <a:t>Le principe</a:t>
            </a:r>
          </a:p>
        </p:txBody>
      </p:sp>
      <p:pic>
        <p:nvPicPr>
          <p:cNvPr id="5" name="Espace réservé du contenu 4">
            <a:extLst>
              <a:ext uri="{FF2B5EF4-FFF2-40B4-BE49-F238E27FC236}">
                <a16:creationId xmlns:a16="http://schemas.microsoft.com/office/drawing/2014/main" id="{F7DB1203-2F83-DF9E-3EF8-71A829B24069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/>
          <a:stretch>
            <a:fillRect/>
          </a:stretch>
        </p:blipFill>
        <p:spPr>
          <a:xfrm>
            <a:off x="6121064" y="1837912"/>
            <a:ext cx="5383548" cy="3589032"/>
          </a:xfrm>
        </p:spPr>
      </p:pic>
      <p:sp>
        <p:nvSpPr>
          <p:cNvPr id="6" name="ZoneTexte 5">
            <a:extLst>
              <a:ext uri="{FF2B5EF4-FFF2-40B4-BE49-F238E27FC236}">
                <a16:creationId xmlns:a16="http://schemas.microsoft.com/office/drawing/2014/main" id="{931A3849-60BB-963F-F0CF-A259FAF5B3A1}"/>
              </a:ext>
            </a:extLst>
          </p:cNvPr>
          <p:cNvSpPr txBox="1"/>
          <p:nvPr/>
        </p:nvSpPr>
        <p:spPr>
          <a:xfrm>
            <a:off x="2592925" y="1785769"/>
            <a:ext cx="2850444" cy="369331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fr-FR" dirty="0"/>
              <a:t>Distiller la connaissance d’un  gros model « </a:t>
            </a:r>
            <a:r>
              <a:rPr lang="fr-FR" dirty="0" err="1"/>
              <a:t>teacher</a:t>
            </a:r>
            <a:r>
              <a:rPr lang="fr-FR" dirty="0"/>
              <a:t> » vers un model « </a:t>
            </a:r>
            <a:r>
              <a:rPr lang="fr-FR" dirty="0" err="1"/>
              <a:t>student</a:t>
            </a:r>
            <a:r>
              <a:rPr lang="fr-FR" dirty="0"/>
              <a:t> » moins lourd.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fr-FR" dirty="0"/>
              <a:t>Teacher : Model très lourd, capable d’ingérer beaucoup de connaissances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fr-FR" dirty="0" err="1"/>
              <a:t>Student</a:t>
            </a:r>
            <a:r>
              <a:rPr lang="fr-FR" dirty="0"/>
              <a:t> : Model léger qui synthétise les connaissances du </a:t>
            </a:r>
            <a:r>
              <a:rPr lang="fr-FR" dirty="0" err="1"/>
              <a:t>teacher</a:t>
            </a:r>
            <a:r>
              <a:rPr lang="fr-FR" dirty="0"/>
              <a:t>. </a:t>
            </a:r>
            <a:r>
              <a:rPr lang="fr-FR" dirty="0" err="1"/>
              <a:t>Déploiyable</a:t>
            </a:r>
            <a:endParaRPr lang="fr-FR" dirty="0"/>
          </a:p>
        </p:txBody>
      </p:sp>
    </p:spTree>
    <p:extLst>
      <p:ext uri="{BB962C8B-B14F-4D97-AF65-F5344CB8AC3E}">
        <p14:creationId xmlns:p14="http://schemas.microsoft.com/office/powerpoint/2010/main" val="1560660155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9597F8AA-A40D-976E-D323-18DF88F95FC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fr-FR" dirty="0"/>
              <a:t>Le principe</a:t>
            </a:r>
          </a:p>
        </p:txBody>
      </p:sp>
      <p:pic>
        <p:nvPicPr>
          <p:cNvPr id="5" name="Espace réservé du contenu 4">
            <a:extLst>
              <a:ext uri="{FF2B5EF4-FFF2-40B4-BE49-F238E27FC236}">
                <a16:creationId xmlns:a16="http://schemas.microsoft.com/office/drawing/2014/main" id="{BB343E16-8823-EB3D-ABF1-9908C6B0028F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/>
          <a:stretch>
            <a:fillRect/>
          </a:stretch>
        </p:blipFill>
        <p:spPr>
          <a:xfrm>
            <a:off x="838200" y="1455796"/>
            <a:ext cx="8363175" cy="6467212"/>
          </a:xfrm>
        </p:spPr>
      </p:pic>
      <p:sp>
        <p:nvSpPr>
          <p:cNvPr id="6" name="ZoneTexte 5">
            <a:extLst>
              <a:ext uri="{FF2B5EF4-FFF2-40B4-BE49-F238E27FC236}">
                <a16:creationId xmlns:a16="http://schemas.microsoft.com/office/drawing/2014/main" id="{71B59289-725A-BB88-F9FB-C4CF70D89E09}"/>
              </a:ext>
            </a:extLst>
          </p:cNvPr>
          <p:cNvSpPr txBox="1"/>
          <p:nvPr/>
        </p:nvSpPr>
        <p:spPr>
          <a:xfrm>
            <a:off x="838200" y="1271130"/>
            <a:ext cx="3679115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fr-FR" dirty="0"/>
              <a:t>Hyper paramètre : la température </a:t>
            </a:r>
            <a:r>
              <a:rPr lang="fr-FR" dirty="0" err="1"/>
              <a:t>T</a:t>
            </a:r>
            <a:endParaRPr lang="fr-FR" dirty="0"/>
          </a:p>
        </p:txBody>
      </p:sp>
    </p:spTree>
    <p:extLst>
      <p:ext uri="{BB962C8B-B14F-4D97-AF65-F5344CB8AC3E}">
        <p14:creationId xmlns:p14="http://schemas.microsoft.com/office/powerpoint/2010/main" val="3793952607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8AA19D34-3050-5492-D322-00CFA583F47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fr-FR" dirty="0"/>
              <a:t>Comportement asymptotique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Espace réservé du contenu 2">
                <a:extLst>
                  <a:ext uri="{FF2B5EF4-FFF2-40B4-BE49-F238E27FC236}">
                    <a16:creationId xmlns:a16="http://schemas.microsoft.com/office/drawing/2014/main" id="{52618551-5DF4-0BF3-6FCA-5DA594F4C0D4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>
              <a:xfrm>
                <a:off x="848958" y="1825625"/>
                <a:ext cx="10515600" cy="4351338"/>
              </a:xfrm>
            </p:spPr>
            <p:txBody>
              <a:bodyPr/>
              <a:lstStyle/>
              <a:p>
                <a14:m>
                  <m:oMath xmlns:m="http://schemas.openxmlformats.org/officeDocument/2006/math">
                    <m:f>
                      <m:fPr>
                        <m:ctrlPr>
                          <a:rPr lang="fr-FR" i="1" smtClean="0">
                            <a:latin typeface="Cambria Math" panose="02040503050406030204" pitchFamily="18" charset="0"/>
                          </a:rPr>
                        </m:ctrlPr>
                      </m:fPr>
                      <m:num>
                        <m:r>
                          <a:rPr lang="fr-FR" i="1" smtClean="0">
                            <a:latin typeface="Cambria Math" panose="02040503050406030204" pitchFamily="18" charset="0"/>
                          </a:rPr>
                          <m:t>𝜕</m:t>
                        </m:r>
                        <m:r>
                          <a:rPr lang="fr-FR" b="0" i="1" smtClean="0">
                            <a:latin typeface="Cambria Math" panose="02040503050406030204" pitchFamily="18" charset="0"/>
                          </a:rPr>
                          <m:t>𝐶</m:t>
                        </m:r>
                      </m:num>
                      <m:den>
                        <m:r>
                          <a:rPr lang="fr-FR" i="1" smtClean="0">
                            <a:latin typeface="Cambria Math" panose="02040503050406030204" pitchFamily="18" charset="0"/>
                          </a:rPr>
                          <m:t>𝜕</m:t>
                        </m:r>
                        <m:sSub>
                          <m:sSubPr>
                            <m:ctrlPr>
                              <a:rPr lang="fr-FR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fr-FR" b="0" i="1" smtClean="0">
                                <a:latin typeface="Cambria Math" panose="02040503050406030204" pitchFamily="18" charset="0"/>
                              </a:rPr>
                              <m:t>𝑧</m:t>
                            </m:r>
                          </m:e>
                          <m:sub>
                            <m:r>
                              <a:rPr lang="fr-FR" b="0" i="1" smtClean="0">
                                <a:latin typeface="Cambria Math" panose="02040503050406030204" pitchFamily="18" charset="0"/>
                              </a:rPr>
                              <m:t>𝑖</m:t>
                            </m:r>
                          </m:sub>
                        </m:sSub>
                      </m:den>
                    </m:f>
                    <m:r>
                      <a:rPr lang="fr-FR" b="0" i="1" smtClean="0">
                        <a:latin typeface="Cambria Math" panose="02040503050406030204" pitchFamily="18" charset="0"/>
                      </a:rPr>
                      <m:t>=</m:t>
                    </m:r>
                    <m:f>
                      <m:fPr>
                        <m:ctrlPr>
                          <a:rPr lang="fr-FR" b="0" i="1" smtClean="0">
                            <a:latin typeface="Cambria Math" panose="02040503050406030204" pitchFamily="18" charset="0"/>
                          </a:rPr>
                        </m:ctrlPr>
                      </m:fPr>
                      <m:num>
                        <m:r>
                          <a:rPr lang="fr-FR" b="0" i="1" smtClean="0">
                            <a:latin typeface="Cambria Math" panose="02040503050406030204" pitchFamily="18" charset="0"/>
                          </a:rPr>
                          <m:t>1</m:t>
                        </m:r>
                      </m:num>
                      <m:den>
                        <m:r>
                          <a:rPr lang="fr-FR" b="0" i="1" smtClean="0">
                            <a:latin typeface="Cambria Math" panose="02040503050406030204" pitchFamily="18" charset="0"/>
                          </a:rPr>
                          <m:t>𝑇</m:t>
                        </m:r>
                      </m:den>
                    </m:f>
                    <m:r>
                      <a:rPr lang="fr-FR" b="0" i="1" smtClean="0">
                        <a:latin typeface="Cambria Math" panose="02040503050406030204" pitchFamily="18" charset="0"/>
                      </a:rPr>
                      <m:t>(</m:t>
                    </m:r>
                    <m:f>
                      <m:fPr>
                        <m:ctrlPr>
                          <a:rPr lang="fr-FR" b="0" i="1" smtClean="0">
                            <a:latin typeface="Cambria Math" panose="02040503050406030204" pitchFamily="18" charset="0"/>
                          </a:rPr>
                        </m:ctrlPr>
                      </m:fPr>
                      <m:num>
                        <m:sSup>
                          <m:sSupPr>
                            <m:ctrlPr>
                              <a:rPr lang="fr-FR" b="0" i="1" smtClean="0">
                                <a:latin typeface="Cambria Math" panose="02040503050406030204" pitchFamily="18" charset="0"/>
                              </a:rPr>
                            </m:ctrlPr>
                          </m:sSupPr>
                          <m:e>
                            <m:r>
                              <a:rPr lang="fr-FR" b="0" i="1" smtClean="0">
                                <a:latin typeface="Cambria Math" panose="02040503050406030204" pitchFamily="18" charset="0"/>
                              </a:rPr>
                              <m:t>𝑒</m:t>
                            </m:r>
                          </m:e>
                          <m:sup>
                            <m:f>
                              <m:fPr>
                                <m:ctrlPr>
                                  <a:rPr lang="fr-FR" b="0" i="1" smtClean="0">
                                    <a:latin typeface="Cambria Math" panose="02040503050406030204" pitchFamily="18" charset="0"/>
                                  </a:rPr>
                                </m:ctrlPr>
                              </m:fPr>
                              <m:num>
                                <m:sSub>
                                  <m:sSubPr>
                                    <m:ctrlPr>
                                      <a:rPr lang="fr-FR" b="0" i="1" smtClean="0">
                                        <a:latin typeface="Cambria Math" panose="02040503050406030204" pitchFamily="18" charset="0"/>
                                      </a:rPr>
                                    </m:ctrlPr>
                                  </m:sSubPr>
                                  <m:e>
                                    <m:r>
                                      <a:rPr lang="fr-FR" b="0" i="1" smtClean="0">
                                        <a:latin typeface="Cambria Math" panose="02040503050406030204" pitchFamily="18" charset="0"/>
                                      </a:rPr>
                                      <m:t>𝑧</m:t>
                                    </m:r>
                                  </m:e>
                                  <m:sub>
                                    <m:r>
                                      <a:rPr lang="fr-FR" b="0" i="1" smtClean="0">
                                        <a:latin typeface="Cambria Math" panose="02040503050406030204" pitchFamily="18" charset="0"/>
                                      </a:rPr>
                                      <m:t>𝑖</m:t>
                                    </m:r>
                                  </m:sub>
                                </m:sSub>
                              </m:num>
                              <m:den>
                                <m:r>
                                  <a:rPr lang="fr-FR" b="0" i="1" smtClean="0">
                                    <a:latin typeface="Cambria Math" panose="02040503050406030204" pitchFamily="18" charset="0"/>
                                  </a:rPr>
                                  <m:t>𝑇</m:t>
                                </m:r>
                              </m:den>
                            </m:f>
                          </m:sup>
                        </m:sSup>
                      </m:num>
                      <m:den>
                        <m:nary>
                          <m:naryPr>
                            <m:chr m:val="∑"/>
                            <m:limLoc m:val="subSup"/>
                            <m:supHide m:val="on"/>
                            <m:ctrlPr>
                              <a:rPr lang="fr-FR" b="0" i="1" smtClean="0">
                                <a:latin typeface="Cambria Math" panose="02040503050406030204" pitchFamily="18" charset="0"/>
                              </a:rPr>
                            </m:ctrlPr>
                          </m:naryPr>
                          <m:sub>
                            <m:r>
                              <m:rPr>
                                <m:brk m:alnAt="9"/>
                              </m:rPr>
                              <a:rPr lang="fr-FR" b="0" i="1" smtClean="0">
                                <a:latin typeface="Cambria Math" panose="02040503050406030204" pitchFamily="18" charset="0"/>
                              </a:rPr>
                              <m:t>𝑗</m:t>
                            </m:r>
                          </m:sub>
                          <m:sup/>
                          <m:e>
                            <m:sSup>
                              <m:sSupPr>
                                <m:ctrlPr>
                                  <a:rPr lang="fr-FR" i="1">
                                    <a:latin typeface="Cambria Math" panose="02040503050406030204" pitchFamily="18" charset="0"/>
                                  </a:rPr>
                                </m:ctrlPr>
                              </m:sSupPr>
                              <m:e>
                                <m:r>
                                  <a:rPr lang="fr-FR" i="1">
                                    <a:latin typeface="Cambria Math" panose="02040503050406030204" pitchFamily="18" charset="0"/>
                                  </a:rPr>
                                  <m:t>𝑒</m:t>
                                </m:r>
                              </m:e>
                              <m:sup>
                                <m:f>
                                  <m:fPr>
                                    <m:ctrlPr>
                                      <a:rPr lang="fr-FR" i="1">
                                        <a:latin typeface="Cambria Math" panose="02040503050406030204" pitchFamily="18" charset="0"/>
                                      </a:rPr>
                                    </m:ctrlPr>
                                  </m:fPr>
                                  <m:num>
                                    <m:sSub>
                                      <m:sSubPr>
                                        <m:ctrlPr>
                                          <a:rPr lang="fr-FR" i="1">
                                            <a:latin typeface="Cambria Math" panose="02040503050406030204" pitchFamily="18" charset="0"/>
                                          </a:rPr>
                                        </m:ctrlPr>
                                      </m:sSubPr>
                                      <m:e>
                                        <m:r>
                                          <a:rPr lang="fr-FR" i="1">
                                            <a:latin typeface="Cambria Math" panose="02040503050406030204" pitchFamily="18" charset="0"/>
                                          </a:rPr>
                                          <m:t>𝑧</m:t>
                                        </m:r>
                                      </m:e>
                                      <m:sub>
                                        <m:r>
                                          <a:rPr lang="fr-FR" b="0" i="1" smtClean="0">
                                            <a:latin typeface="Cambria Math" panose="02040503050406030204" pitchFamily="18" charset="0"/>
                                          </a:rPr>
                                          <m:t>𝑗</m:t>
                                        </m:r>
                                      </m:sub>
                                    </m:sSub>
                                  </m:num>
                                  <m:den>
                                    <m:r>
                                      <a:rPr lang="fr-FR" i="1">
                                        <a:latin typeface="Cambria Math" panose="02040503050406030204" pitchFamily="18" charset="0"/>
                                      </a:rPr>
                                      <m:t>𝑇</m:t>
                                    </m:r>
                                  </m:den>
                                </m:f>
                              </m:sup>
                            </m:sSup>
                          </m:e>
                        </m:nary>
                      </m:den>
                    </m:f>
                    <m:r>
                      <a:rPr lang="fr-FR" b="0" i="1" smtClean="0">
                        <a:latin typeface="Cambria Math" panose="02040503050406030204" pitchFamily="18" charset="0"/>
                      </a:rPr>
                      <m:t>−</m:t>
                    </m:r>
                  </m:oMath>
                </a14:m>
                <a:r>
                  <a:rPr lang="fr-FR" dirty="0"/>
                  <a:t> </a:t>
                </a:r>
                <a14:m>
                  <m:oMath xmlns:m="http://schemas.openxmlformats.org/officeDocument/2006/math">
                    <m:f>
                      <m:fPr>
                        <m:ctrlPr>
                          <a:rPr lang="fr-FR" i="1">
                            <a:latin typeface="Cambria Math" panose="02040503050406030204" pitchFamily="18" charset="0"/>
                          </a:rPr>
                        </m:ctrlPr>
                      </m:fPr>
                      <m:num>
                        <m:sSup>
                          <m:sSupPr>
                            <m:ctrlPr>
                              <a:rPr lang="fr-FR" i="1">
                                <a:latin typeface="Cambria Math" panose="02040503050406030204" pitchFamily="18" charset="0"/>
                              </a:rPr>
                            </m:ctrlPr>
                          </m:sSupPr>
                          <m:e>
                            <m:r>
                              <a:rPr lang="fr-FR" i="1">
                                <a:latin typeface="Cambria Math" panose="02040503050406030204" pitchFamily="18" charset="0"/>
                              </a:rPr>
                              <m:t>𝑒</m:t>
                            </m:r>
                          </m:e>
                          <m:sup>
                            <m:f>
                              <m:fPr>
                                <m:ctrlPr>
                                  <a:rPr lang="fr-FR" i="1">
                                    <a:latin typeface="Cambria Math" panose="02040503050406030204" pitchFamily="18" charset="0"/>
                                  </a:rPr>
                                </m:ctrlPr>
                              </m:fPr>
                              <m:num>
                                <m:sSub>
                                  <m:sSubPr>
                                    <m:ctrlPr>
                                      <a:rPr lang="fr-FR" i="1">
                                        <a:latin typeface="Cambria Math" panose="02040503050406030204" pitchFamily="18" charset="0"/>
                                      </a:rPr>
                                    </m:ctrlPr>
                                  </m:sSubPr>
                                  <m:e>
                                    <m:r>
                                      <a:rPr lang="fr-FR" b="0" i="1" smtClean="0">
                                        <a:latin typeface="Cambria Math" panose="02040503050406030204" pitchFamily="18" charset="0"/>
                                      </a:rPr>
                                      <m:t>𝑣</m:t>
                                    </m:r>
                                  </m:e>
                                  <m:sub>
                                    <m:r>
                                      <a:rPr lang="fr-FR" i="1">
                                        <a:latin typeface="Cambria Math" panose="02040503050406030204" pitchFamily="18" charset="0"/>
                                      </a:rPr>
                                      <m:t>𝑖</m:t>
                                    </m:r>
                                  </m:sub>
                                </m:sSub>
                              </m:num>
                              <m:den>
                                <m:r>
                                  <a:rPr lang="fr-FR" i="1">
                                    <a:latin typeface="Cambria Math" panose="02040503050406030204" pitchFamily="18" charset="0"/>
                                  </a:rPr>
                                  <m:t>𝑇</m:t>
                                </m:r>
                              </m:den>
                            </m:f>
                          </m:sup>
                        </m:sSup>
                      </m:num>
                      <m:den>
                        <m:nary>
                          <m:naryPr>
                            <m:chr m:val="∑"/>
                            <m:limLoc m:val="subSup"/>
                            <m:supHide m:val="on"/>
                            <m:ctrlPr>
                              <a:rPr lang="fr-FR" i="1">
                                <a:latin typeface="Cambria Math" panose="02040503050406030204" pitchFamily="18" charset="0"/>
                              </a:rPr>
                            </m:ctrlPr>
                          </m:naryPr>
                          <m:sub>
                            <m:r>
                              <m:rPr>
                                <m:brk m:alnAt="9"/>
                              </m:rPr>
                              <a:rPr lang="fr-FR" i="1">
                                <a:latin typeface="Cambria Math" panose="02040503050406030204" pitchFamily="18" charset="0"/>
                              </a:rPr>
                              <m:t>𝑗</m:t>
                            </m:r>
                          </m:sub>
                          <m:sup/>
                          <m:e>
                            <m:sSup>
                              <m:sSupPr>
                                <m:ctrlPr>
                                  <a:rPr lang="fr-FR" i="1">
                                    <a:latin typeface="Cambria Math" panose="02040503050406030204" pitchFamily="18" charset="0"/>
                                  </a:rPr>
                                </m:ctrlPr>
                              </m:sSupPr>
                              <m:e>
                                <m:r>
                                  <a:rPr lang="fr-FR" i="1">
                                    <a:latin typeface="Cambria Math" panose="02040503050406030204" pitchFamily="18" charset="0"/>
                                  </a:rPr>
                                  <m:t>𝑒</m:t>
                                </m:r>
                              </m:e>
                              <m:sup>
                                <m:f>
                                  <m:fPr>
                                    <m:ctrlPr>
                                      <a:rPr lang="fr-FR" i="1">
                                        <a:latin typeface="Cambria Math" panose="02040503050406030204" pitchFamily="18" charset="0"/>
                                      </a:rPr>
                                    </m:ctrlPr>
                                  </m:fPr>
                                  <m:num>
                                    <m:sSub>
                                      <m:sSubPr>
                                        <m:ctrlPr>
                                          <a:rPr lang="fr-FR" i="1">
                                            <a:latin typeface="Cambria Math" panose="02040503050406030204" pitchFamily="18" charset="0"/>
                                          </a:rPr>
                                        </m:ctrlPr>
                                      </m:sSubPr>
                                      <m:e>
                                        <m:r>
                                          <a:rPr lang="fr-FR" b="0" i="1" smtClean="0">
                                            <a:latin typeface="Cambria Math" panose="02040503050406030204" pitchFamily="18" charset="0"/>
                                          </a:rPr>
                                          <m:t>𝑣</m:t>
                                        </m:r>
                                      </m:e>
                                      <m:sub>
                                        <m:r>
                                          <a:rPr lang="fr-FR" i="1">
                                            <a:latin typeface="Cambria Math" panose="02040503050406030204" pitchFamily="18" charset="0"/>
                                          </a:rPr>
                                          <m:t>𝑗</m:t>
                                        </m:r>
                                      </m:sub>
                                    </m:sSub>
                                  </m:num>
                                  <m:den>
                                    <m:r>
                                      <a:rPr lang="fr-FR" i="1">
                                        <a:latin typeface="Cambria Math" panose="02040503050406030204" pitchFamily="18" charset="0"/>
                                      </a:rPr>
                                      <m:t>𝑇</m:t>
                                    </m:r>
                                  </m:den>
                                </m:f>
                              </m:sup>
                            </m:sSup>
                          </m:e>
                        </m:nary>
                      </m:den>
                    </m:f>
                    <m:r>
                      <a:rPr lang="fr-FR" b="0" i="1" smtClean="0">
                        <a:latin typeface="Cambria Math" panose="02040503050406030204" pitchFamily="18" charset="0"/>
                      </a:rPr>
                      <m:t>)</m:t>
                    </m:r>
                  </m:oMath>
                </a14:m>
                <a:endParaRPr lang="fr-FR" dirty="0"/>
              </a:p>
              <a:p>
                <a:pPr marL="0" indent="0">
                  <a:buNone/>
                </a:pPr>
                <a:r>
                  <a:rPr lang="fr-FR" dirty="0"/>
                  <a:t>A température élevée (par rapport aux </a:t>
                </a:r>
                <a:r>
                  <a:rPr lang="fr-FR" dirty="0" err="1"/>
                  <a:t>logits</a:t>
                </a:r>
                <a:r>
                  <a:rPr lang="fr-FR" dirty="0"/>
                  <a:t>; </a:t>
                </a:r>
                <a14:m>
                  <m:oMath xmlns:m="http://schemas.openxmlformats.org/officeDocument/2006/math">
                    <m:r>
                      <a:rPr lang="fr-FR" b="0" i="1" smtClean="0">
                        <a:latin typeface="Cambria Math" panose="02040503050406030204" pitchFamily="18" charset="0"/>
                      </a:rPr>
                      <m:t>𝑇</m:t>
                    </m:r>
                    <m:r>
                      <a:rPr lang="fr-FR" b="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≫</m:t>
                    </m:r>
                    <m:sSub>
                      <m:sSubPr>
                        <m:ctrlPr>
                          <a:rPr lang="fr-FR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fr-FR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𝑧</m:t>
                        </m:r>
                      </m:e>
                      <m:sub>
                        <m:r>
                          <a:rPr lang="fr-FR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𝑗</m:t>
                        </m:r>
                      </m:sub>
                    </m:sSub>
                    <m:r>
                      <a:rPr lang="fr-FR" b="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, </m:t>
                    </m:r>
                    <m:sSub>
                      <m:sSubPr>
                        <m:ctrlPr>
                          <a:rPr lang="fr-FR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fr-FR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𝑣</m:t>
                        </m:r>
                      </m:e>
                      <m:sub>
                        <m:r>
                          <a:rPr lang="fr-FR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𝑗</m:t>
                        </m:r>
                      </m:sub>
                    </m:sSub>
                  </m:oMath>
                </a14:m>
                <a:r>
                  <a:rPr lang="fr-FR" dirty="0"/>
                  <a:t>)</a:t>
                </a:r>
              </a:p>
              <a:p>
                <a14:m>
                  <m:oMath xmlns:m="http://schemas.openxmlformats.org/officeDocument/2006/math">
                    <m:f>
                      <m:fPr>
                        <m:ctrlPr>
                          <a:rPr lang="fr-FR" i="1">
                            <a:latin typeface="Cambria Math" panose="02040503050406030204" pitchFamily="18" charset="0"/>
                          </a:rPr>
                        </m:ctrlPr>
                      </m:fPr>
                      <m:num>
                        <m:r>
                          <a:rPr lang="fr-FR" i="1">
                            <a:latin typeface="Cambria Math" panose="02040503050406030204" pitchFamily="18" charset="0"/>
                          </a:rPr>
                          <m:t>𝜕</m:t>
                        </m:r>
                        <m:r>
                          <a:rPr lang="fr-FR" i="1">
                            <a:latin typeface="Cambria Math" panose="02040503050406030204" pitchFamily="18" charset="0"/>
                          </a:rPr>
                          <m:t>𝐶</m:t>
                        </m:r>
                      </m:num>
                      <m:den>
                        <m:r>
                          <a:rPr lang="fr-FR" i="1">
                            <a:latin typeface="Cambria Math" panose="02040503050406030204" pitchFamily="18" charset="0"/>
                          </a:rPr>
                          <m:t>𝜕</m:t>
                        </m:r>
                        <m:sSub>
                          <m:sSubPr>
                            <m:ctrlPr>
                              <a:rPr lang="fr-FR" i="1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fr-FR" i="1">
                                <a:latin typeface="Cambria Math" panose="02040503050406030204" pitchFamily="18" charset="0"/>
                              </a:rPr>
                              <m:t>𝑧</m:t>
                            </m:r>
                          </m:e>
                          <m:sub>
                            <m:r>
                              <a:rPr lang="fr-FR" i="1">
                                <a:latin typeface="Cambria Math" panose="02040503050406030204" pitchFamily="18" charset="0"/>
                              </a:rPr>
                              <m:t>𝑖</m:t>
                            </m:r>
                          </m:sub>
                        </m:sSub>
                      </m:den>
                    </m:f>
                    <m:r>
                      <a:rPr lang="fr-FR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≈</m:t>
                    </m:r>
                    <m:f>
                      <m:fPr>
                        <m:ctrlPr>
                          <a:rPr lang="fr-FR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fPr>
                      <m:num>
                        <m:r>
                          <a:rPr lang="fr-FR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1</m:t>
                        </m:r>
                      </m:num>
                      <m:den>
                        <m:r>
                          <a:rPr lang="fr-FR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𝑇</m:t>
                        </m:r>
                      </m:den>
                    </m:f>
                    <m:r>
                      <a:rPr lang="fr-FR" b="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(</m:t>
                    </m:r>
                    <m:f>
                      <m:fPr>
                        <m:ctrlPr>
                          <a:rPr lang="fr-FR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fPr>
                      <m:num>
                        <m:r>
                          <a:rPr lang="fr-FR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1+</m:t>
                        </m:r>
                        <m:f>
                          <m:fPr>
                            <m:ctrlPr>
                              <a:rPr lang="fr-FR" i="1">
                                <a:latin typeface="Cambria Math" panose="02040503050406030204" pitchFamily="18" charset="0"/>
                              </a:rPr>
                            </m:ctrlPr>
                          </m:fPr>
                          <m:num>
                            <m:sSub>
                              <m:sSubPr>
                                <m:ctrlPr>
                                  <a:rPr lang="fr-FR" i="1">
                                    <a:latin typeface="Cambria Math" panose="02040503050406030204" pitchFamily="18" charset="0"/>
                                  </a:rPr>
                                </m:ctrlPr>
                              </m:sSubPr>
                              <m:e>
                                <m:r>
                                  <a:rPr lang="fr-FR" i="1">
                                    <a:latin typeface="Cambria Math" panose="02040503050406030204" pitchFamily="18" charset="0"/>
                                  </a:rPr>
                                  <m:t>𝑧</m:t>
                                </m:r>
                              </m:e>
                              <m:sub>
                                <m:r>
                                  <a:rPr lang="fr-FR" i="1">
                                    <a:latin typeface="Cambria Math" panose="02040503050406030204" pitchFamily="18" charset="0"/>
                                  </a:rPr>
                                  <m:t>𝑖</m:t>
                                </m:r>
                              </m:sub>
                            </m:sSub>
                          </m:num>
                          <m:den>
                            <m:r>
                              <a:rPr lang="fr-FR" i="1">
                                <a:latin typeface="Cambria Math" panose="02040503050406030204" pitchFamily="18" charset="0"/>
                              </a:rPr>
                              <m:t>𝑇</m:t>
                            </m:r>
                          </m:den>
                        </m:f>
                      </m:num>
                      <m:den>
                        <m:r>
                          <a:rPr lang="fr-FR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𝑁</m:t>
                        </m:r>
                        <m:r>
                          <a:rPr lang="fr-FR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+</m:t>
                        </m:r>
                        <m:nary>
                          <m:naryPr>
                            <m:chr m:val="∑"/>
                            <m:limLoc m:val="subSup"/>
                            <m:supHide m:val="on"/>
                            <m:ctrlPr>
                              <a:rPr lang="fr-FR" i="1" smtClean="0">
                                <a:latin typeface="Cambria Math" panose="02040503050406030204" pitchFamily="18" charset="0"/>
                              </a:rPr>
                            </m:ctrlPr>
                          </m:naryPr>
                          <m:sub>
                            <m:r>
                              <m:rPr>
                                <m:brk m:alnAt="9"/>
                              </m:rPr>
                              <a:rPr lang="fr-FR" i="1" smtClean="0">
                                <a:latin typeface="Cambria Math" panose="02040503050406030204" pitchFamily="18" charset="0"/>
                              </a:rPr>
                              <m:t>𝑗</m:t>
                            </m:r>
                          </m:sub>
                          <m:sup/>
                          <m:e>
                            <m:f>
                              <m:fPr>
                                <m:ctrlPr>
                                  <a:rPr lang="fr-FR" i="1">
                                    <a:latin typeface="Cambria Math" panose="02040503050406030204" pitchFamily="18" charset="0"/>
                                  </a:rPr>
                                </m:ctrlPr>
                              </m:fPr>
                              <m:num>
                                <m:sSub>
                                  <m:sSubPr>
                                    <m:ctrlPr>
                                      <a:rPr lang="fr-FR" i="1">
                                        <a:latin typeface="Cambria Math" panose="02040503050406030204" pitchFamily="18" charset="0"/>
                                      </a:rPr>
                                    </m:ctrlPr>
                                  </m:sSubPr>
                                  <m:e>
                                    <m:r>
                                      <a:rPr lang="fr-FR" i="1">
                                        <a:latin typeface="Cambria Math" panose="02040503050406030204" pitchFamily="18" charset="0"/>
                                      </a:rPr>
                                      <m:t>𝑧</m:t>
                                    </m:r>
                                  </m:e>
                                  <m:sub>
                                    <m:r>
                                      <a:rPr lang="fr-FR" b="0" i="1" smtClean="0">
                                        <a:latin typeface="Cambria Math" panose="02040503050406030204" pitchFamily="18" charset="0"/>
                                      </a:rPr>
                                      <m:t>𝑗</m:t>
                                    </m:r>
                                  </m:sub>
                                </m:sSub>
                              </m:num>
                              <m:den>
                                <m:r>
                                  <a:rPr lang="fr-FR" i="1">
                                    <a:latin typeface="Cambria Math" panose="02040503050406030204" pitchFamily="18" charset="0"/>
                                  </a:rPr>
                                  <m:t>𝑇</m:t>
                                </m:r>
                              </m:den>
                            </m:f>
                          </m:e>
                        </m:nary>
                      </m:den>
                    </m:f>
                    <m:r>
                      <a:rPr lang="fr-FR" b="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−</m:t>
                    </m:r>
                    <m:f>
                      <m:fPr>
                        <m:ctrlPr>
                          <a:rPr lang="fr-FR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fPr>
                      <m:num>
                        <m:r>
                          <a:rPr lang="fr-FR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1+</m:t>
                        </m:r>
                        <m:f>
                          <m:fPr>
                            <m:ctrlPr>
                              <a:rPr lang="fr-FR" i="1">
                                <a:latin typeface="Cambria Math" panose="02040503050406030204" pitchFamily="18" charset="0"/>
                              </a:rPr>
                            </m:ctrlPr>
                          </m:fPr>
                          <m:num>
                            <m:sSub>
                              <m:sSubPr>
                                <m:ctrlPr>
                                  <a:rPr lang="fr-FR" i="1">
                                    <a:latin typeface="Cambria Math" panose="02040503050406030204" pitchFamily="18" charset="0"/>
                                  </a:rPr>
                                </m:ctrlPr>
                              </m:sSubPr>
                              <m:e>
                                <m:r>
                                  <a:rPr lang="fr-FR" b="0" i="1" smtClean="0">
                                    <a:latin typeface="Cambria Math" panose="02040503050406030204" pitchFamily="18" charset="0"/>
                                  </a:rPr>
                                  <m:t>𝑣</m:t>
                                </m:r>
                              </m:e>
                              <m:sub>
                                <m:r>
                                  <a:rPr lang="fr-FR" i="1">
                                    <a:latin typeface="Cambria Math" panose="02040503050406030204" pitchFamily="18" charset="0"/>
                                  </a:rPr>
                                  <m:t>𝑖</m:t>
                                </m:r>
                              </m:sub>
                            </m:sSub>
                          </m:num>
                          <m:den>
                            <m:r>
                              <a:rPr lang="fr-FR" i="1">
                                <a:latin typeface="Cambria Math" panose="02040503050406030204" pitchFamily="18" charset="0"/>
                              </a:rPr>
                              <m:t>𝑇</m:t>
                            </m:r>
                          </m:den>
                        </m:f>
                      </m:num>
                      <m:den>
                        <m:r>
                          <a:rPr lang="fr-FR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𝑁</m:t>
                        </m:r>
                        <m:r>
                          <a:rPr lang="fr-FR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+</m:t>
                        </m:r>
                        <m:nary>
                          <m:naryPr>
                            <m:chr m:val="∑"/>
                            <m:limLoc m:val="subSup"/>
                            <m:supHide m:val="on"/>
                            <m:ctrlPr>
                              <a:rPr lang="fr-FR" i="1">
                                <a:latin typeface="Cambria Math" panose="02040503050406030204" pitchFamily="18" charset="0"/>
                              </a:rPr>
                            </m:ctrlPr>
                          </m:naryPr>
                          <m:sub>
                            <m:r>
                              <m:rPr>
                                <m:brk m:alnAt="9"/>
                              </m:rPr>
                              <a:rPr lang="fr-FR" i="1">
                                <a:latin typeface="Cambria Math" panose="02040503050406030204" pitchFamily="18" charset="0"/>
                              </a:rPr>
                              <m:t>𝑗</m:t>
                            </m:r>
                          </m:sub>
                          <m:sup/>
                          <m:e>
                            <m:f>
                              <m:fPr>
                                <m:ctrlPr>
                                  <a:rPr lang="fr-FR" i="1">
                                    <a:latin typeface="Cambria Math" panose="02040503050406030204" pitchFamily="18" charset="0"/>
                                  </a:rPr>
                                </m:ctrlPr>
                              </m:fPr>
                              <m:num>
                                <m:sSub>
                                  <m:sSubPr>
                                    <m:ctrlPr>
                                      <a:rPr lang="fr-FR" i="1">
                                        <a:latin typeface="Cambria Math" panose="02040503050406030204" pitchFamily="18" charset="0"/>
                                      </a:rPr>
                                    </m:ctrlPr>
                                  </m:sSubPr>
                                  <m:e>
                                    <m:r>
                                      <a:rPr lang="fr-FR" b="0" i="1" smtClean="0">
                                        <a:latin typeface="Cambria Math" panose="02040503050406030204" pitchFamily="18" charset="0"/>
                                      </a:rPr>
                                      <m:t>𝑣</m:t>
                                    </m:r>
                                  </m:e>
                                  <m:sub>
                                    <m:r>
                                      <a:rPr lang="fr-FR" b="0" i="1" smtClean="0">
                                        <a:latin typeface="Cambria Math" panose="02040503050406030204" pitchFamily="18" charset="0"/>
                                      </a:rPr>
                                      <m:t>𝑗</m:t>
                                    </m:r>
                                  </m:sub>
                                </m:sSub>
                              </m:num>
                              <m:den>
                                <m:r>
                                  <a:rPr lang="fr-FR" i="1">
                                    <a:latin typeface="Cambria Math" panose="02040503050406030204" pitchFamily="18" charset="0"/>
                                  </a:rPr>
                                  <m:t>𝑇</m:t>
                                </m:r>
                              </m:den>
                            </m:f>
                          </m:e>
                        </m:nary>
                      </m:den>
                    </m:f>
                  </m:oMath>
                </a14:m>
                <a:r>
                  <a:rPr lang="fr-FR" dirty="0"/>
                  <a:t>) ; ddl de l’exponentiel</a:t>
                </a:r>
              </a:p>
              <a:p>
                <a:pPr marL="0" indent="0">
                  <a:buNone/>
                </a:pPr>
                <a:r>
                  <a:rPr lang="fr-FR" dirty="0"/>
                  <a:t>En supposant que les </a:t>
                </a:r>
                <a:r>
                  <a:rPr lang="fr-FR" dirty="0" err="1"/>
                  <a:t>logits</a:t>
                </a:r>
                <a:r>
                  <a:rPr lang="fr-FR" dirty="0"/>
                  <a:t> sont centrées (</a:t>
                </a:r>
                <a14:m>
                  <m:oMath xmlns:m="http://schemas.openxmlformats.org/officeDocument/2006/math">
                    <m:nary>
                      <m:naryPr>
                        <m:chr m:val="∑"/>
                        <m:limLoc m:val="subSup"/>
                        <m:supHide m:val="on"/>
                        <m:ctrlPr>
                          <a:rPr lang="fr-FR" i="1" smtClean="0">
                            <a:latin typeface="Cambria Math" panose="02040503050406030204" pitchFamily="18" charset="0"/>
                          </a:rPr>
                        </m:ctrlPr>
                      </m:naryPr>
                      <m:sub>
                        <m:r>
                          <m:rPr>
                            <m:brk m:alnAt="9"/>
                          </m:rPr>
                          <a:rPr lang="fr-FR" b="0" i="1" smtClean="0">
                            <a:latin typeface="Cambria Math" panose="02040503050406030204" pitchFamily="18" charset="0"/>
                          </a:rPr>
                          <m:t>𝑗</m:t>
                        </m:r>
                      </m:sub>
                      <m:sup/>
                      <m:e>
                        <m:sSub>
                          <m:sSubPr>
                            <m:ctrlPr>
                              <a:rPr lang="fr-FR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fr-FR" b="0" i="1" smtClean="0">
                                <a:latin typeface="Cambria Math" panose="02040503050406030204" pitchFamily="18" charset="0"/>
                              </a:rPr>
                              <m:t>𝑧</m:t>
                            </m:r>
                          </m:e>
                          <m:sub>
                            <m:r>
                              <a:rPr lang="fr-FR" b="0" i="1" smtClean="0">
                                <a:latin typeface="Cambria Math" panose="02040503050406030204" pitchFamily="18" charset="0"/>
                              </a:rPr>
                              <m:t>𝑗</m:t>
                            </m:r>
                          </m:sub>
                        </m:sSub>
                        <m:r>
                          <a:rPr lang="fr-FR" b="0" i="1" smtClean="0">
                            <a:latin typeface="Cambria Math" panose="02040503050406030204" pitchFamily="18" charset="0"/>
                          </a:rPr>
                          <m:t>=0</m:t>
                        </m:r>
                      </m:e>
                    </m:nary>
                  </m:oMath>
                </a14:m>
                <a:r>
                  <a:rPr lang="fr-FR" dirty="0"/>
                  <a:t>)</a:t>
                </a:r>
              </a:p>
              <a:p>
                <a14:m>
                  <m:oMath xmlns:m="http://schemas.openxmlformats.org/officeDocument/2006/math">
                    <m:f>
                      <m:fPr>
                        <m:ctrlPr>
                          <a:rPr lang="fr-FR" i="1">
                            <a:latin typeface="Cambria Math" panose="02040503050406030204" pitchFamily="18" charset="0"/>
                          </a:rPr>
                        </m:ctrlPr>
                      </m:fPr>
                      <m:num>
                        <m:r>
                          <a:rPr lang="fr-FR" i="1">
                            <a:latin typeface="Cambria Math" panose="02040503050406030204" pitchFamily="18" charset="0"/>
                          </a:rPr>
                          <m:t>𝜕</m:t>
                        </m:r>
                        <m:r>
                          <a:rPr lang="fr-FR" i="1">
                            <a:latin typeface="Cambria Math" panose="02040503050406030204" pitchFamily="18" charset="0"/>
                          </a:rPr>
                          <m:t>𝐶</m:t>
                        </m:r>
                      </m:num>
                      <m:den>
                        <m:r>
                          <a:rPr lang="fr-FR" i="1">
                            <a:latin typeface="Cambria Math" panose="02040503050406030204" pitchFamily="18" charset="0"/>
                          </a:rPr>
                          <m:t>𝜕</m:t>
                        </m:r>
                        <m:sSub>
                          <m:sSubPr>
                            <m:ctrlPr>
                              <a:rPr lang="fr-FR" i="1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fr-FR" i="1">
                                <a:latin typeface="Cambria Math" panose="02040503050406030204" pitchFamily="18" charset="0"/>
                              </a:rPr>
                              <m:t>𝑧</m:t>
                            </m:r>
                          </m:e>
                          <m:sub>
                            <m:r>
                              <a:rPr lang="fr-FR" i="1">
                                <a:latin typeface="Cambria Math" panose="02040503050406030204" pitchFamily="18" charset="0"/>
                              </a:rPr>
                              <m:t>𝑖</m:t>
                            </m:r>
                          </m:sub>
                        </m:sSub>
                      </m:den>
                    </m:f>
                    <m:r>
                      <a:rPr lang="fr-FR" i="1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≈</m:t>
                    </m:r>
                    <m:f>
                      <m:fPr>
                        <m:ctrlPr>
                          <a:rPr lang="fr-FR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fPr>
                      <m:num>
                        <m:r>
                          <a:rPr lang="fr-FR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1</m:t>
                        </m:r>
                      </m:num>
                      <m:den>
                        <m:sSup>
                          <m:sSupPr>
                            <m:ctrlPr>
                              <a:rPr lang="fr-FR" i="1" smtClean="0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</m:ctrlPr>
                          </m:sSupPr>
                          <m:e>
                            <m:r>
                              <a:rPr lang="fr-FR" b="0" i="1" smtClean="0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𝑁𝑇</m:t>
                            </m:r>
                          </m:e>
                          <m:sup>
                            <m:r>
                              <a:rPr lang="fr-FR" b="0" i="1" smtClean="0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2</m:t>
                            </m:r>
                          </m:sup>
                        </m:sSup>
                      </m:den>
                    </m:f>
                    <m:r>
                      <a:rPr lang="fr-FR" b="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(</m:t>
                    </m:r>
                    <m:sSub>
                      <m:sSubPr>
                        <m:ctrlPr>
                          <a:rPr lang="fr-FR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fr-FR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𝑧</m:t>
                        </m:r>
                      </m:e>
                      <m:sub>
                        <m:r>
                          <a:rPr lang="fr-FR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𝑖</m:t>
                        </m:r>
                      </m:sub>
                    </m:sSub>
                    <m:r>
                      <a:rPr lang="fr-FR" b="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−</m:t>
                    </m:r>
                    <m:sSub>
                      <m:sSubPr>
                        <m:ctrlPr>
                          <a:rPr lang="fr-FR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fr-FR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𝑣</m:t>
                        </m:r>
                      </m:e>
                      <m:sub>
                        <m:r>
                          <a:rPr lang="fr-FR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𝑖</m:t>
                        </m:r>
                      </m:sub>
                    </m:sSub>
                    <m:r>
                      <a:rPr lang="fr-FR" b="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)</m:t>
                    </m:r>
                  </m:oMath>
                </a14:m>
                <a:endParaRPr lang="fr-FR" dirty="0"/>
              </a:p>
            </p:txBody>
          </p:sp>
        </mc:Choice>
        <mc:Fallback xmlns="">
          <p:sp>
            <p:nvSpPr>
              <p:cNvPr id="3" name="Espace réservé du contenu 2">
                <a:extLst>
                  <a:ext uri="{FF2B5EF4-FFF2-40B4-BE49-F238E27FC236}">
                    <a16:creationId xmlns:a16="http://schemas.microsoft.com/office/drawing/2014/main" id="{52618551-5DF4-0BF3-6FCA-5DA594F4C0D4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848958" y="1825625"/>
                <a:ext cx="10515600" cy="4351338"/>
              </a:xfrm>
              <a:blipFill>
                <a:blip r:embed="rId2"/>
                <a:stretch>
                  <a:fillRect l="-1206" t="-581"/>
                </a:stretch>
              </a:blipFill>
            </p:spPr>
            <p:txBody>
              <a:bodyPr/>
              <a:lstStyle/>
              <a:p>
                <a:r>
                  <a:rPr lang="fr-FR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2999231069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E392AE1F-A9DC-F603-522E-6A2745E5CC7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fr-FR" dirty="0"/>
              <a:t>Calcul de la </a:t>
            </a:r>
            <a:r>
              <a:rPr lang="fr-FR" dirty="0" err="1"/>
              <a:t>Loss</a:t>
            </a:r>
            <a:endParaRPr lang="fr-FR" dirty="0"/>
          </a:p>
        </p:txBody>
      </p:sp>
      <p:pic>
        <p:nvPicPr>
          <p:cNvPr id="5" name="Espace réservé du contenu 4">
            <a:extLst>
              <a:ext uri="{FF2B5EF4-FFF2-40B4-BE49-F238E27FC236}">
                <a16:creationId xmlns:a16="http://schemas.microsoft.com/office/drawing/2014/main" id="{3D069879-70A0-474A-064A-5BF2D4ED631C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/>
          <a:stretch>
            <a:fillRect/>
          </a:stretch>
        </p:blipFill>
        <p:spPr>
          <a:xfrm>
            <a:off x="838200" y="1309258"/>
            <a:ext cx="7617686" cy="5890728"/>
          </a:xfrm>
        </p:spPr>
      </p:pic>
      <mc:AlternateContent xmlns:mc="http://schemas.openxmlformats.org/markup-compatibility/2006" xmlns:a14="http://schemas.microsoft.com/office/drawing/2010/main">
        <mc:Choice Requires="a14">
          <p:sp>
            <p:nvSpPr>
              <p:cNvPr id="6" name="ZoneTexte 5">
                <a:extLst>
                  <a:ext uri="{FF2B5EF4-FFF2-40B4-BE49-F238E27FC236}">
                    <a16:creationId xmlns:a16="http://schemas.microsoft.com/office/drawing/2014/main" id="{00C25FE4-4B0A-62DA-694D-EAE777C7E45C}"/>
                  </a:ext>
                </a:extLst>
              </p:cNvPr>
              <p:cNvSpPr txBox="1"/>
              <p:nvPr/>
            </p:nvSpPr>
            <p:spPr>
              <a:xfrm>
                <a:off x="838200" y="1309258"/>
                <a:ext cx="2753958" cy="923330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r>
                  <a:rPr lang="fr-FR" dirty="0"/>
                  <a:t>Deux hyperparamètres :</a:t>
                </a:r>
              </a:p>
              <a:p>
                <a:pPr marL="285750" indent="-285750">
                  <a:buFont typeface="Arial" panose="020B0604020202020204" pitchFamily="34" charset="0"/>
                  <a:buChar char="•"/>
                </a:pPr>
                <a:r>
                  <a:rPr lang="fr-FR" dirty="0"/>
                  <a:t>La température </a:t>
                </a:r>
                <a:r>
                  <a:rPr lang="fr-FR" dirty="0" err="1"/>
                  <a:t>T</a:t>
                </a:r>
                <a:endParaRPr lang="fr-FR" dirty="0"/>
              </a:p>
              <a:p>
                <a:pPr marL="285750" indent="-285750">
                  <a:buFont typeface="Arial" panose="020B0604020202020204" pitchFamily="34" charset="0"/>
                  <a:buChar char="•"/>
                </a:pPr>
                <a:r>
                  <a:rPr lang="fr-FR" dirty="0"/>
                  <a:t>Le coefficient </a:t>
                </a:r>
                <a14:m>
                  <m:oMath xmlns:m="http://schemas.openxmlformats.org/officeDocument/2006/math">
                    <m:r>
                      <a:rPr lang="fr-FR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𝛼</m:t>
                    </m:r>
                  </m:oMath>
                </a14:m>
                <a:endParaRPr lang="fr-FR" dirty="0"/>
              </a:p>
            </p:txBody>
          </p:sp>
        </mc:Choice>
        <mc:Fallback xmlns="">
          <p:sp>
            <p:nvSpPr>
              <p:cNvPr id="6" name="ZoneTexte 5">
                <a:extLst>
                  <a:ext uri="{FF2B5EF4-FFF2-40B4-BE49-F238E27FC236}">
                    <a16:creationId xmlns:a16="http://schemas.microsoft.com/office/drawing/2014/main" id="{00C25FE4-4B0A-62DA-694D-EAE777C7E45C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838200" y="1309258"/>
                <a:ext cx="2753958" cy="923330"/>
              </a:xfrm>
              <a:prstGeom prst="rect">
                <a:avLst/>
              </a:prstGeom>
              <a:blipFill>
                <a:blip r:embed="rId3"/>
                <a:stretch>
                  <a:fillRect l="-2304" t="-4110" b="-9589"/>
                </a:stretch>
              </a:blipFill>
            </p:spPr>
            <p:txBody>
              <a:bodyPr/>
              <a:lstStyle/>
              <a:p>
                <a:r>
                  <a:rPr lang="fr-FR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1473836390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6" name="Image 5">
            <a:extLst>
              <a:ext uri="{FF2B5EF4-FFF2-40B4-BE49-F238E27FC236}">
                <a16:creationId xmlns:a16="http://schemas.microsoft.com/office/drawing/2014/main" id="{2256EFD2-578D-07C4-CAEC-B25A7A4BB667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055556" y="3260348"/>
            <a:ext cx="4298244" cy="3323816"/>
          </a:xfrm>
          <a:prstGeom prst="rect">
            <a:avLst/>
          </a:prstGeom>
        </p:spPr>
      </p:pic>
      <p:sp>
        <p:nvSpPr>
          <p:cNvPr id="2" name="Titre 1">
            <a:extLst>
              <a:ext uri="{FF2B5EF4-FFF2-40B4-BE49-F238E27FC236}">
                <a16:creationId xmlns:a16="http://schemas.microsoft.com/office/drawing/2014/main" id="{B20DF09D-AE6E-5101-6D38-C10AD04927E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fr-FR" dirty="0"/>
              <a:t>Exemple : CIFAR10 et RESNET18</a:t>
            </a:r>
          </a:p>
        </p:txBody>
      </p:sp>
      <p:pic>
        <p:nvPicPr>
          <p:cNvPr id="5" name="Espace réservé du contenu 4">
            <a:extLst>
              <a:ext uri="{FF2B5EF4-FFF2-40B4-BE49-F238E27FC236}">
                <a16:creationId xmlns:a16="http://schemas.microsoft.com/office/drawing/2014/main" id="{B299B99D-025E-3DAF-2961-2119CBDAEB4A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3"/>
          <a:stretch>
            <a:fillRect/>
          </a:stretch>
        </p:blipFill>
        <p:spPr>
          <a:xfrm>
            <a:off x="838200" y="1690688"/>
            <a:ext cx="5629016" cy="4351338"/>
          </a:xfrm>
        </p:spPr>
      </p:pic>
      <p:sp>
        <p:nvSpPr>
          <p:cNvPr id="7" name="ZoneTexte 6">
            <a:extLst>
              <a:ext uri="{FF2B5EF4-FFF2-40B4-BE49-F238E27FC236}">
                <a16:creationId xmlns:a16="http://schemas.microsoft.com/office/drawing/2014/main" id="{0C872678-4A93-560E-9C02-11E2EE61C217}"/>
              </a:ext>
            </a:extLst>
          </p:cNvPr>
          <p:cNvSpPr txBox="1"/>
          <p:nvPr/>
        </p:nvSpPr>
        <p:spPr>
          <a:xfrm>
            <a:off x="7705219" y="5857360"/>
            <a:ext cx="3250096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fr-FR" dirty="0"/>
              <a:t>Réseau de convolution </a:t>
            </a:r>
            <a:r>
              <a:rPr lang="fr-FR" dirty="0" err="1"/>
              <a:t>Student</a:t>
            </a:r>
            <a:endParaRPr lang="fr-FR" dirty="0"/>
          </a:p>
        </p:txBody>
      </p:sp>
      <p:sp>
        <p:nvSpPr>
          <p:cNvPr id="3" name="ZoneTexte 2">
            <a:extLst>
              <a:ext uri="{FF2B5EF4-FFF2-40B4-BE49-F238E27FC236}">
                <a16:creationId xmlns:a16="http://schemas.microsoft.com/office/drawing/2014/main" id="{74121103-AD59-83B0-5FA4-1516028ACD49}"/>
              </a:ext>
            </a:extLst>
          </p:cNvPr>
          <p:cNvSpPr txBox="1"/>
          <p:nvPr/>
        </p:nvSpPr>
        <p:spPr>
          <a:xfrm>
            <a:off x="7055556" y="1506022"/>
            <a:ext cx="4549422" cy="203132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fr-FR" dirty="0"/>
              <a:t>Teacher : ResNet18  </a:t>
            </a:r>
          </a:p>
          <a:p>
            <a:r>
              <a:rPr lang="fr-FR" dirty="0"/>
              <a:t>	- 11,173,962 paramètres</a:t>
            </a:r>
          </a:p>
          <a:p>
            <a:r>
              <a:rPr lang="fr-FR" dirty="0"/>
              <a:t>	- 95% </a:t>
            </a:r>
            <a:r>
              <a:rPr lang="fr-FR" dirty="0" err="1"/>
              <a:t>accuracy</a:t>
            </a:r>
            <a:r>
              <a:rPr lang="fr-FR" dirty="0"/>
              <a:t>, téléchargé depuis la 	librairie </a:t>
            </a:r>
            <a:r>
              <a:rPr lang="fr-FR" dirty="0" err="1"/>
              <a:t>timm</a:t>
            </a:r>
            <a:endParaRPr lang="fr-FR" dirty="0"/>
          </a:p>
          <a:p>
            <a:endParaRPr lang="fr-FR" dirty="0"/>
          </a:p>
          <a:p>
            <a:r>
              <a:rPr lang="fr-FR" dirty="0" err="1"/>
              <a:t>Student</a:t>
            </a:r>
            <a:r>
              <a:rPr lang="fr-FR" dirty="0"/>
              <a:t> : Un petit réseau de convolution</a:t>
            </a:r>
          </a:p>
          <a:p>
            <a:r>
              <a:rPr lang="fr-FR" dirty="0"/>
              <a:t>	-  98,970 paramètres</a:t>
            </a:r>
          </a:p>
        </p:txBody>
      </p:sp>
    </p:spTree>
    <p:extLst>
      <p:ext uri="{BB962C8B-B14F-4D97-AF65-F5344CB8AC3E}">
        <p14:creationId xmlns:p14="http://schemas.microsoft.com/office/powerpoint/2010/main" val="3216631449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09EF933F-D092-4C24-A38D-B9EB595F904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fr-FR" dirty="0"/>
              <a:t>Exemple : Entrainement</a:t>
            </a:r>
          </a:p>
        </p:txBody>
      </p:sp>
      <p:pic>
        <p:nvPicPr>
          <p:cNvPr id="5" name="Espace réservé du contenu 4">
            <a:extLst>
              <a:ext uri="{FF2B5EF4-FFF2-40B4-BE49-F238E27FC236}">
                <a16:creationId xmlns:a16="http://schemas.microsoft.com/office/drawing/2014/main" id="{696B9140-2B64-0907-6755-47D8FAD7A09B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/>
          <a:stretch>
            <a:fillRect/>
          </a:stretch>
        </p:blipFill>
        <p:spPr>
          <a:xfrm>
            <a:off x="6096000" y="1690688"/>
            <a:ext cx="5257800" cy="4152900"/>
          </a:xfrm>
        </p:spPr>
      </p:pic>
      <p:pic>
        <p:nvPicPr>
          <p:cNvPr id="7" name="Image 6">
            <a:extLst>
              <a:ext uri="{FF2B5EF4-FFF2-40B4-BE49-F238E27FC236}">
                <a16:creationId xmlns:a16="http://schemas.microsoft.com/office/drawing/2014/main" id="{E67A65BF-F6A7-F78C-A1A4-FFCBDC212602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38200" y="1690688"/>
            <a:ext cx="5308600" cy="41529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921161360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1063F50D-B60D-AFD5-02AB-2AB35D17496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fr-FR" dirty="0"/>
              <a:t>Exemple : test</a:t>
            </a:r>
          </a:p>
        </p:txBody>
      </p:sp>
      <p:pic>
        <p:nvPicPr>
          <p:cNvPr id="5" name="Espace réservé du contenu 4">
            <a:extLst>
              <a:ext uri="{FF2B5EF4-FFF2-40B4-BE49-F238E27FC236}">
                <a16:creationId xmlns:a16="http://schemas.microsoft.com/office/drawing/2014/main" id="{09943348-ABD6-7B9F-A062-D34A0D4A0ABC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/>
          <a:stretch>
            <a:fillRect/>
          </a:stretch>
        </p:blipFill>
        <p:spPr>
          <a:xfrm>
            <a:off x="838200" y="1690688"/>
            <a:ext cx="5334000" cy="4152900"/>
          </a:xfrm>
        </p:spPr>
      </p:pic>
      <p:sp>
        <p:nvSpPr>
          <p:cNvPr id="6" name="ZoneTexte 5">
            <a:extLst>
              <a:ext uri="{FF2B5EF4-FFF2-40B4-BE49-F238E27FC236}">
                <a16:creationId xmlns:a16="http://schemas.microsoft.com/office/drawing/2014/main" id="{15252749-6FB8-07F7-9ACF-F3E54595F0D4}"/>
              </a:ext>
            </a:extLst>
          </p:cNvPr>
          <p:cNvSpPr txBox="1"/>
          <p:nvPr/>
        </p:nvSpPr>
        <p:spPr>
          <a:xfrm>
            <a:off x="7367155" y="2026227"/>
            <a:ext cx="2722418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fr-FR" dirty="0"/>
              <a:t>Meilleur pour alpha = 0.1</a:t>
            </a:r>
          </a:p>
        </p:txBody>
      </p:sp>
    </p:spTree>
    <p:extLst>
      <p:ext uri="{BB962C8B-B14F-4D97-AF65-F5344CB8AC3E}">
        <p14:creationId xmlns:p14="http://schemas.microsoft.com/office/powerpoint/2010/main" val="2575072510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7F45809D-8E43-E1FB-6FCF-8DE3B81A51F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fr-FR" dirty="0"/>
              <a:t>Principe à retenir</a:t>
            </a:r>
          </a:p>
        </p:txBody>
      </p:sp>
      <p:sp>
        <p:nvSpPr>
          <p:cNvPr id="3" name="Espace réservé du contenu 2">
            <a:extLst>
              <a:ext uri="{FF2B5EF4-FFF2-40B4-BE49-F238E27FC236}">
                <a16:creationId xmlns:a16="http://schemas.microsoft.com/office/drawing/2014/main" id="{16456222-F4ED-6213-64D4-7D15332FA48B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marL="0" indent="0">
              <a:buNone/>
            </a:pPr>
            <a:r>
              <a:rPr lang="fr-FR" dirty="0"/>
              <a:t>La distillation consiste à faire apprendre à un modèle les paternes qu’un plus gros modèle entrainé à trouvé. </a:t>
            </a:r>
          </a:p>
        </p:txBody>
      </p:sp>
    </p:spTree>
    <p:extLst>
      <p:ext uri="{BB962C8B-B14F-4D97-AF65-F5344CB8AC3E}">
        <p14:creationId xmlns:p14="http://schemas.microsoft.com/office/powerpoint/2010/main" val="442143583"/>
      </p:ext>
    </p:extLst>
  </p:cSld>
  <p:clrMapOvr>
    <a:masterClrMapping/>
  </p:clrMapOvr>
</p:sld>
</file>

<file path=ppt/theme/theme1.xml><?xml version="1.0" encoding="utf-8"?>
<a:theme xmlns:a="http://schemas.openxmlformats.org/drawingml/2006/main" name="Thème Office">
  <a:themeElements>
    <a:clrScheme name="Thème 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Thème 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Thème 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2013 - 2022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>Office 2013 - 2022 Theme</Template>
  <TotalTime>699</TotalTime>
  <Words>222</Words>
  <Application>Microsoft Macintosh PowerPoint</Application>
  <PresentationFormat>Grand écran</PresentationFormat>
  <Paragraphs>36</Paragraphs>
  <Slides>10</Slides>
  <Notes>0</Notes>
  <HiddenSlides>0</HiddenSlides>
  <MMClips>0</MMClips>
  <ScaleCrop>false</ScaleCrop>
  <HeadingPairs>
    <vt:vector size="6" baseType="variant">
      <vt:variant>
        <vt:lpstr>Polices utilisées</vt:lpstr>
      </vt:variant>
      <vt:variant>
        <vt:i4>4</vt:i4>
      </vt:variant>
      <vt:variant>
        <vt:lpstr>Thème</vt:lpstr>
      </vt:variant>
      <vt:variant>
        <vt:i4>1</vt:i4>
      </vt:variant>
      <vt:variant>
        <vt:lpstr>Titres des diapositives</vt:lpstr>
      </vt:variant>
      <vt:variant>
        <vt:i4>10</vt:i4>
      </vt:variant>
    </vt:vector>
  </HeadingPairs>
  <TitlesOfParts>
    <vt:vector size="15" baseType="lpstr">
      <vt:lpstr>Arial</vt:lpstr>
      <vt:lpstr>Calibri</vt:lpstr>
      <vt:lpstr>Calibri Light</vt:lpstr>
      <vt:lpstr>Cambria Math</vt:lpstr>
      <vt:lpstr>Thème Office</vt:lpstr>
      <vt:lpstr>Distillation de connaissances dans un réseau de neurones</vt:lpstr>
      <vt:lpstr>Table des matières</vt:lpstr>
      <vt:lpstr>Le principe</vt:lpstr>
      <vt:lpstr>Le principe</vt:lpstr>
      <vt:lpstr>Comportement asymptotique</vt:lpstr>
      <vt:lpstr>Calcul de la Loss</vt:lpstr>
      <vt:lpstr>Exemple : CIFAR10 et RESNET18</vt:lpstr>
      <vt:lpstr>Exemple : Entrainement</vt:lpstr>
      <vt:lpstr>Exemple : test</vt:lpstr>
      <vt:lpstr>Principe à retenir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Distillation de connaissances dans un réseau de neurones</dc:title>
  <dc:creator>Thomas Pouré</dc:creator>
  <cp:lastModifiedBy>Thomas Pouré</cp:lastModifiedBy>
  <cp:revision>7</cp:revision>
  <dcterms:created xsi:type="dcterms:W3CDTF">2026-01-25T10:22:49Z</dcterms:created>
  <dcterms:modified xsi:type="dcterms:W3CDTF">2026-01-30T08:07:51Z</dcterms:modified>
</cp:coreProperties>
</file>