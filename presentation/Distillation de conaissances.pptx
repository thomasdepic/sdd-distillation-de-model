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1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63"/>
    <p:restoredTop sz="94715"/>
  </p:normalViewPr>
  <p:slideViewPr>
    <p:cSldViewPr snapToGrid="0">
      <p:cViewPr>
        <p:scale>
          <a:sx n="120" d="100"/>
          <a:sy n="120" d="100"/>
        </p:scale>
        <p:origin x="-9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34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223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590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4799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17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565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0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52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76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1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986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356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1" r:id="rId1"/>
    <p:sldLayoutId id="2147484112" r:id="rId2"/>
    <p:sldLayoutId id="2147484113" r:id="rId3"/>
    <p:sldLayoutId id="2147484114" r:id="rId4"/>
    <p:sldLayoutId id="2147484115" r:id="rId5"/>
    <p:sldLayoutId id="2147484116" r:id="rId6"/>
    <p:sldLayoutId id="2147484117" r:id="rId7"/>
    <p:sldLayoutId id="2147484118" r:id="rId8"/>
    <p:sldLayoutId id="2147484119" r:id="rId9"/>
    <p:sldLayoutId id="2147484120" r:id="rId10"/>
    <p:sldLayoutId id="214748412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A63B7A-2100-D9B2-28FD-1FFF3FD391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Distillation de </a:t>
            </a:r>
            <a:r>
              <a:rPr lang="fr-FR" dirty="0"/>
              <a:t>connaissances</a:t>
            </a:r>
            <a:r>
              <a:rPr lang="en-US" dirty="0"/>
              <a:t> </a:t>
            </a:r>
            <a:r>
              <a:rPr lang="fr-FR" dirty="0"/>
              <a:t>dans</a:t>
            </a:r>
            <a:r>
              <a:rPr lang="en-US" dirty="0"/>
              <a:t> un </a:t>
            </a:r>
            <a:r>
              <a:rPr lang="fr-FR" dirty="0"/>
              <a:t>réseau</a:t>
            </a:r>
            <a:r>
              <a:rPr lang="en-US" dirty="0"/>
              <a:t> de </a:t>
            </a:r>
            <a:r>
              <a:rPr lang="en-US" dirty="0" err="1"/>
              <a:t>neurones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9F4C2F-D1EE-83DB-DEB0-A78B20D99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Une </a:t>
            </a:r>
            <a:r>
              <a:rPr lang="fr-FR" dirty="0"/>
              <a:t>méthode</a:t>
            </a:r>
            <a:r>
              <a:rPr lang="en-US" dirty="0"/>
              <a:t> de </a:t>
            </a:r>
            <a:r>
              <a:rPr lang="fr-FR" dirty="0"/>
              <a:t>compression</a:t>
            </a:r>
            <a:r>
              <a:rPr lang="en-US" dirty="0"/>
              <a:t> de la </a:t>
            </a:r>
            <a:r>
              <a:rPr lang="fr-FR" dirty="0"/>
              <a:t>connaissance</a:t>
            </a:r>
          </a:p>
        </p:txBody>
      </p:sp>
    </p:spTree>
    <p:extLst>
      <p:ext uri="{BB962C8B-B14F-4D97-AF65-F5344CB8AC3E}">
        <p14:creationId xmlns:p14="http://schemas.microsoft.com/office/powerpoint/2010/main" val="3852700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B7E61-41CE-C55F-D54D-7EF10FCA2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Table des matières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D67304-3D40-3261-C851-AAB00FA66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principe</a:t>
            </a:r>
          </a:p>
          <a:p>
            <a:r>
              <a:rPr lang="fr-FR" dirty="0"/>
              <a:t>Les formules qui en découlent</a:t>
            </a:r>
          </a:p>
          <a:p>
            <a:r>
              <a:rPr lang="fr-FR" dirty="0"/>
              <a:t>Un exemple</a:t>
            </a:r>
          </a:p>
          <a:p>
            <a:r>
              <a:rPr lang="fr-FR" dirty="0"/>
              <a:t>Pour aller plus loin</a:t>
            </a:r>
          </a:p>
        </p:txBody>
      </p:sp>
    </p:spTree>
    <p:extLst>
      <p:ext uri="{BB962C8B-B14F-4D97-AF65-F5344CB8AC3E}">
        <p14:creationId xmlns:p14="http://schemas.microsoft.com/office/powerpoint/2010/main" val="3555723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0107BB-3059-F9FC-7C39-A58BBAD0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principe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7DB1203-2F83-DF9E-3EF8-71A829B240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21064" y="1837912"/>
            <a:ext cx="5383548" cy="3589032"/>
          </a:xfr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931A3849-60BB-963F-F0CF-A259FAF5B3A1}"/>
              </a:ext>
            </a:extLst>
          </p:cNvPr>
          <p:cNvSpPr txBox="1"/>
          <p:nvPr/>
        </p:nvSpPr>
        <p:spPr>
          <a:xfrm>
            <a:off x="2592925" y="1785769"/>
            <a:ext cx="285044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Distiller la connaissance d’un  gros model « </a:t>
            </a:r>
            <a:r>
              <a:rPr lang="fr-FR" dirty="0" err="1"/>
              <a:t>teacher</a:t>
            </a:r>
            <a:r>
              <a:rPr lang="fr-FR" dirty="0"/>
              <a:t> » vers un model « </a:t>
            </a:r>
            <a:r>
              <a:rPr lang="fr-FR" dirty="0" err="1"/>
              <a:t>student</a:t>
            </a:r>
            <a:r>
              <a:rPr lang="fr-FR" dirty="0"/>
              <a:t> » moins lourd.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Teacher : Model très lourd, capable d’ingérer beaucoup de connaissances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Student</a:t>
            </a:r>
            <a:r>
              <a:rPr lang="fr-FR" dirty="0"/>
              <a:t> : Model léger qui synthétise les connaissances du </a:t>
            </a:r>
            <a:r>
              <a:rPr lang="fr-FR" dirty="0" err="1"/>
              <a:t>teacher</a:t>
            </a:r>
            <a:r>
              <a:rPr lang="fr-FR" dirty="0"/>
              <a:t>. </a:t>
            </a:r>
            <a:r>
              <a:rPr lang="fr-FR" dirty="0" err="1"/>
              <a:t>Déploiyable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60660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97F8AA-A40D-976E-D323-18DF88F95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principe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B343E16-8823-EB3D-ABF1-9908C6B00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55796"/>
            <a:ext cx="8363175" cy="6467212"/>
          </a:xfr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1B59289-725A-BB88-F9FB-C4CF70D89E09}"/>
              </a:ext>
            </a:extLst>
          </p:cNvPr>
          <p:cNvSpPr txBox="1"/>
          <p:nvPr/>
        </p:nvSpPr>
        <p:spPr>
          <a:xfrm>
            <a:off x="838200" y="1271130"/>
            <a:ext cx="3679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Hyper paramètre : la température </a:t>
            </a:r>
            <a:r>
              <a:rPr lang="fr-FR" dirty="0" err="1"/>
              <a:t>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395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A19D34-3050-5492-D322-00CFA583F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Comportement asymptotique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2618551-5DF4-0BF3-6FCA-5DA594F4C0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8958" y="1825625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den>
                                </m:f>
                              </m:sup>
                            </m:sSup>
                          </m:e>
                        </m:nary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den>
                                </m:f>
                              </m:sup>
                            </m:sSup>
                          </m:e>
                        </m:nary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A température élevée (par rapport aux </a:t>
                </a:r>
                <a:r>
                  <a:rPr lang="fr-FR" dirty="0" err="1"/>
                  <a:t>logits</a:t>
                </a:r>
                <a:r>
                  <a:rPr lang="fr-FR" dirty="0"/>
                  <a:t>;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fr-FR" dirty="0"/>
                  <a:t>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e>
                        </m:nary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e>
                        </m:nary>
                      </m:den>
                    </m:f>
                  </m:oMath>
                </a14:m>
                <a:r>
                  <a:rPr lang="fr-FR" dirty="0"/>
                  <a:t>) ; ddl de l’exponentiel</a:t>
                </a:r>
              </a:p>
              <a:p>
                <a:pPr marL="0" indent="0">
                  <a:buNone/>
                </a:pPr>
                <a:r>
                  <a:rPr lang="fr-FR" dirty="0"/>
                  <a:t>En supposant que les </a:t>
                </a:r>
                <a:r>
                  <a:rPr lang="fr-FR" dirty="0" err="1"/>
                  <a:t>logits</a:t>
                </a:r>
                <a:r>
                  <a:rPr lang="fr-FR" dirty="0"/>
                  <a:t> sont centrées 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nary>
                  </m:oMath>
                </a14:m>
                <a:r>
                  <a:rPr lang="fr-FR" dirty="0"/>
                  <a:t>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𝑁𝑇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2618551-5DF4-0BF3-6FCA-5DA594F4C0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8958" y="1825625"/>
                <a:ext cx="10515600" cy="4351338"/>
              </a:xfrm>
              <a:blipFill>
                <a:blip r:embed="rId2"/>
                <a:stretch>
                  <a:fillRect l="-1206" t="-5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231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92AE1F-A9DC-F603-522E-6A2745E5C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de la </a:t>
            </a:r>
            <a:r>
              <a:rPr lang="fr-FR" dirty="0" err="1"/>
              <a:t>Loss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D069879-70A0-474A-064A-5BF2D4ED63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09258"/>
            <a:ext cx="7617686" cy="589072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0C25FE4-4B0A-62DA-694D-EAE777C7E45C}"/>
                  </a:ext>
                </a:extLst>
              </p:cNvPr>
              <p:cNvSpPr txBox="1"/>
              <p:nvPr/>
            </p:nvSpPr>
            <p:spPr>
              <a:xfrm>
                <a:off x="838200" y="1309258"/>
                <a:ext cx="275395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Deux hyperparamètres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La température </a:t>
                </a:r>
                <a:r>
                  <a:rPr lang="fr-FR" dirty="0" err="1"/>
                  <a:t>T</a:t>
                </a:r>
                <a:endParaRPr lang="fr-FR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Le coefficient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0C25FE4-4B0A-62DA-694D-EAE777C7E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309258"/>
                <a:ext cx="2753958" cy="923330"/>
              </a:xfrm>
              <a:prstGeom prst="rect">
                <a:avLst/>
              </a:prstGeom>
              <a:blipFill>
                <a:blip r:embed="rId3"/>
                <a:stretch>
                  <a:fillRect l="-2304" t="-4110" b="-95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836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2256EFD2-578D-07C4-CAEC-B25A7A4BB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556" y="3260348"/>
            <a:ext cx="4298244" cy="332381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20DF09D-AE6E-5101-6D38-C10AD0492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: CIFAR10 et RESNET18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99B99D-025E-3DAF-2961-2119CBDAEB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690688"/>
            <a:ext cx="5629016" cy="4351338"/>
          </a:xfr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0C872678-4A93-560E-9C02-11E2EE61C217}"/>
              </a:ext>
            </a:extLst>
          </p:cNvPr>
          <p:cNvSpPr txBox="1"/>
          <p:nvPr/>
        </p:nvSpPr>
        <p:spPr>
          <a:xfrm>
            <a:off x="7705219" y="5857360"/>
            <a:ext cx="3250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Réseau de convolution </a:t>
            </a:r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4121103-AD59-83B0-5FA4-1516028ACD49}"/>
              </a:ext>
            </a:extLst>
          </p:cNvPr>
          <p:cNvSpPr txBox="1"/>
          <p:nvPr/>
        </p:nvSpPr>
        <p:spPr>
          <a:xfrm>
            <a:off x="7055556" y="1506022"/>
            <a:ext cx="454942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Teacher : ResNet18  </a:t>
            </a:r>
          </a:p>
          <a:p>
            <a:r>
              <a:rPr lang="fr-FR" dirty="0"/>
              <a:t>	- 11,173,962 paramètres</a:t>
            </a:r>
          </a:p>
          <a:p>
            <a:r>
              <a:rPr lang="fr-FR" dirty="0"/>
              <a:t>	- 95% </a:t>
            </a:r>
            <a:r>
              <a:rPr lang="fr-FR" dirty="0" err="1"/>
              <a:t>accuracy</a:t>
            </a:r>
            <a:r>
              <a:rPr lang="fr-FR" dirty="0"/>
              <a:t>, téléchargé depuis la 	librairie </a:t>
            </a:r>
            <a:r>
              <a:rPr lang="fr-FR" dirty="0" err="1"/>
              <a:t>timm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Student</a:t>
            </a:r>
            <a:r>
              <a:rPr lang="fr-FR" dirty="0"/>
              <a:t> : Un petit réseau de convolution</a:t>
            </a:r>
          </a:p>
          <a:p>
            <a:r>
              <a:rPr lang="fr-FR" dirty="0"/>
              <a:t>	-  98,970 paramètres</a:t>
            </a:r>
          </a:p>
        </p:txBody>
      </p:sp>
    </p:spTree>
    <p:extLst>
      <p:ext uri="{BB962C8B-B14F-4D97-AF65-F5344CB8AC3E}">
        <p14:creationId xmlns:p14="http://schemas.microsoft.com/office/powerpoint/2010/main" val="3216631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F933F-D092-4C24-A38D-B9EB595F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CIFAR10 : Entrainement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96B9140-2B64-0907-6755-47D8FAD7A0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690688"/>
            <a:ext cx="5257800" cy="4152900"/>
          </a:xfr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67A65BF-F6A7-F78C-A1A4-FFCBDC212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5308600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161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63F50D-B60D-AFD5-02AB-2AB35D17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CIFAR10 : test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9943348-ABD6-7B9F-A062-D34A0D4A0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2000" y="1690688"/>
            <a:ext cx="5334000" cy="4152900"/>
          </a:xfr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5252749-6FB8-07F7-9ACF-F3E54595F0D4}"/>
              </a:ext>
            </a:extLst>
          </p:cNvPr>
          <p:cNvSpPr txBox="1"/>
          <p:nvPr/>
        </p:nvSpPr>
        <p:spPr>
          <a:xfrm>
            <a:off x="7367154" y="2026227"/>
            <a:ext cx="39866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Meilleur pour alpha = 0.1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Sur apprentissage pour alpha autour de 0.5 (bizarre)</a:t>
            </a:r>
          </a:p>
        </p:txBody>
      </p:sp>
    </p:spTree>
    <p:extLst>
      <p:ext uri="{BB962C8B-B14F-4D97-AF65-F5344CB8AC3E}">
        <p14:creationId xmlns:p14="http://schemas.microsoft.com/office/powerpoint/2010/main" val="2575072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93B33B-5F5E-E9E4-BB84-264BB096B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CIFAR100 et RESNET18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6CD0E9A-5137-D0C0-A67C-EF6BC282F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694272" cy="4802187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0B5F31D6-442A-74C1-B90A-AD398858DE8F}"/>
              </a:ext>
            </a:extLst>
          </p:cNvPr>
          <p:cNvSpPr txBox="1"/>
          <p:nvPr/>
        </p:nvSpPr>
        <p:spPr>
          <a:xfrm>
            <a:off x="6076511" y="1690688"/>
            <a:ext cx="60977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Teacher : ResNet18  </a:t>
            </a:r>
          </a:p>
          <a:p>
            <a:r>
              <a:rPr lang="fr-FR" dirty="0"/>
              <a:t>	- 11,220,132 paramètres</a:t>
            </a:r>
          </a:p>
          <a:p>
            <a:r>
              <a:rPr lang="fr-FR" dirty="0"/>
              <a:t>	- 80% </a:t>
            </a:r>
            <a:r>
              <a:rPr lang="fr-FR" dirty="0" err="1"/>
              <a:t>accuracy</a:t>
            </a:r>
            <a:r>
              <a:rPr lang="fr-FR" dirty="0"/>
              <a:t>, téléchargé depuis la librairie </a:t>
            </a:r>
            <a:r>
              <a:rPr lang="fr-FR" dirty="0" err="1"/>
              <a:t>timm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Student</a:t>
            </a:r>
            <a:r>
              <a:rPr lang="fr-FR" dirty="0"/>
              <a:t> : Un « petit » réseau de convolution</a:t>
            </a:r>
          </a:p>
          <a:p>
            <a:r>
              <a:rPr lang="fr-FR" dirty="0"/>
              <a:t>	-  1,199,876 paramètres</a:t>
            </a:r>
          </a:p>
        </p:txBody>
      </p:sp>
    </p:spTree>
    <p:extLst>
      <p:ext uri="{BB962C8B-B14F-4D97-AF65-F5344CB8AC3E}">
        <p14:creationId xmlns:p14="http://schemas.microsoft.com/office/powerpoint/2010/main" val="384463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F933F-D092-4C24-A38D-B9EB595F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CIFAR100 : Entrainement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E593BB8-1815-0F68-FF57-BCA4F3EAA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219700" cy="4152900"/>
          </a:xfrm>
          <a:prstGeom prst="rect">
            <a:avLst/>
          </a:prstGeom>
        </p:spPr>
      </p:pic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9FAAE9CC-FDF2-9CC7-2B65-66FDCC829D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34102" y="1690688"/>
            <a:ext cx="5334000" cy="4152900"/>
          </a:xfrm>
        </p:spPr>
      </p:pic>
    </p:spTree>
    <p:extLst>
      <p:ext uri="{BB962C8B-B14F-4D97-AF65-F5344CB8AC3E}">
        <p14:creationId xmlns:p14="http://schemas.microsoft.com/office/powerpoint/2010/main" val="3664552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63F50D-B60D-AFD5-02AB-2AB35D17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CIFAR100 : test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5252749-6FB8-07F7-9ACF-F3E54595F0D4}"/>
              </a:ext>
            </a:extLst>
          </p:cNvPr>
          <p:cNvSpPr txBox="1"/>
          <p:nvPr/>
        </p:nvSpPr>
        <p:spPr>
          <a:xfrm>
            <a:off x="7367154" y="2026227"/>
            <a:ext cx="39866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Meilleur pour alpha = 0.1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Sur apprentissage pour alpha autour de 0.5 (bizarre)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4153779A-886C-C572-AE76-712477CA86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257800" cy="4152900"/>
          </a:xfrm>
        </p:spPr>
      </p:pic>
    </p:spTree>
    <p:extLst>
      <p:ext uri="{BB962C8B-B14F-4D97-AF65-F5344CB8AC3E}">
        <p14:creationId xmlns:p14="http://schemas.microsoft.com/office/powerpoint/2010/main" val="31108607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45809D-8E43-E1FB-6FCF-8DE3B81A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Principe à retenir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456222-F4ED-6213-64D4-7D15332FA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La distillation consiste à faire apprendre à un modèle les paternes qu’un plus gros modèle entrainé à trouvé. </a:t>
            </a:r>
          </a:p>
        </p:txBody>
      </p:sp>
    </p:spTree>
    <p:extLst>
      <p:ext uri="{BB962C8B-B14F-4D97-AF65-F5344CB8AC3E}">
        <p14:creationId xmlns:p14="http://schemas.microsoft.com/office/powerpoint/2010/main" val="44214358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1049</TotalTime>
  <Words>287</Words>
  <Application>Microsoft Macintosh PowerPoint</Application>
  <PresentationFormat>Grand écran</PresentationFormat>
  <Paragraphs>48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Thème Office</vt:lpstr>
      <vt:lpstr>Distillation de connaissances dans un réseau de neurones</vt:lpstr>
      <vt:lpstr>Table des matières</vt:lpstr>
      <vt:lpstr>Le principe</vt:lpstr>
      <vt:lpstr>Le principe</vt:lpstr>
      <vt:lpstr>Comportement asymptotique</vt:lpstr>
      <vt:lpstr>Calcul de la Loss</vt:lpstr>
      <vt:lpstr>Exemple : CIFAR10 et RESNET18</vt:lpstr>
      <vt:lpstr>CIFAR10 : Entrainement</vt:lpstr>
      <vt:lpstr>CIFAR10 : test</vt:lpstr>
      <vt:lpstr>CIFAR100 et RESNET18</vt:lpstr>
      <vt:lpstr>CIFAR100 : Entrainement</vt:lpstr>
      <vt:lpstr>CIFAR100 : test</vt:lpstr>
      <vt:lpstr>Principe à retenir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Distillation de connaissances dans un réseau de neurones</dc:title>
  <dc:creator>Thomas Pouré</dc:creator>
  <cp:lastModifiedBy>Thomas Pouré</cp:lastModifiedBy>
  <cp:revision>8</cp:revision>
  <dcterms:created xsi:type="dcterms:W3CDTF">2026-01-25T10:22:49Z</dcterms:created>
  <dcterms:modified xsi:type="dcterms:W3CDTF">2026-01-30T13:58:23Z</dcterms:modified>
</cp:coreProperties>
</file>